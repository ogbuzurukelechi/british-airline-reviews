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96" r:id="rId5"/>
  </p:sldMasterIdLst>
  <p:notesMasterIdLst>
    <p:notesMasterId r:id="rId9"/>
  </p:notesMasterIdLst>
  <p:handoutMasterIdLst>
    <p:handoutMasterId r:id="rId10"/>
  </p:handoutMasterIdLst>
  <p:sldIdLst>
    <p:sldId id="256" r:id="rId6"/>
    <p:sldId id="257" r:id="rId7"/>
    <p:sldId id="258" r:id="rId8"/>
  </p:sldIdLst>
  <p:sldSz cx="12192000" cy="6858000"/>
  <p:notesSz cx="6797675" cy="99266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020B0D-6F11-480E-6D5B-1C8B4C4D5B13}" name="Susan Robinson" initials="SR" userId="S::susan.robinson@ba.com::bd9a80f1-9417-4c5f-a51c-c43c10bbe4ea" providerId="AD"/>
  <p188:author id="{0DB60536-BDA6-B3E9-DDC1-435976C94759}" name="Sandra Green" initials="SG" userId="S::sandra.green@ba.com::2185cfad-8141-4ae4-81aa-22841564645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usan Robinson" initials="SR" lastIdx="1" clrIdx="0">
    <p:extLst>
      <p:ext uri="{19B8F6BF-5375-455C-9EA6-DF929625EA0E}">
        <p15:presenceInfo xmlns:p15="http://schemas.microsoft.com/office/powerpoint/2012/main" userId="S::susan.robinson@ba.com::bd9a80f1-9417-4c5f-a51c-c43c10bbe4e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B5574"/>
    <a:srgbClr val="BCCFEC"/>
    <a:srgbClr val="ADD1D7"/>
    <a:srgbClr val="F6F6F6"/>
    <a:srgbClr val="E47874"/>
    <a:srgbClr val="BEB3B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1" d="100"/>
          <a:sy n="71" d="100"/>
        </p:scale>
        <p:origin x="672" y="138"/>
      </p:cViewPr>
      <p:guideLst>
        <p:guide orient="horz" pos="2160"/>
        <p:guide pos="3840"/>
      </p:guideLst>
    </p:cSldViewPr>
  </p:slideViewPr>
  <p:notesTextViewPr>
    <p:cViewPr>
      <p:scale>
        <a:sx n="1" d="1"/>
        <a:sy n="1" d="1"/>
      </p:scale>
      <p:origin x="0" y="-582"/>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presProps" Target="presProps.xml"/><Relationship Id="rId2" Type="http://schemas.openxmlformats.org/officeDocument/2006/relationships/customXml" Target="../customXml/item2.xml"/><Relationship Id="rId16"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3FD8FC5-53C5-1443-9915-3AD6E5146F57}"/>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737BDE66-419A-C942-BD40-DBE6EF0834F5}"/>
              </a:ext>
            </a:extLst>
          </p:cNvPr>
          <p:cNvSpPr>
            <a:spLocks noGrp="1"/>
          </p:cNvSpPr>
          <p:nvPr>
            <p:ph type="dt" sz="quarter" idx="1"/>
          </p:nvPr>
        </p:nvSpPr>
        <p:spPr>
          <a:xfrm>
            <a:off x="3850443" y="0"/>
            <a:ext cx="2945659" cy="498056"/>
          </a:xfrm>
          <a:prstGeom prst="rect">
            <a:avLst/>
          </a:prstGeom>
        </p:spPr>
        <p:txBody>
          <a:bodyPr vert="horz" lIns="91440" tIns="45720" rIns="91440" bIns="45720" rtlCol="0"/>
          <a:lstStyle>
            <a:lvl1pPr algn="r">
              <a:defRPr sz="1200"/>
            </a:lvl1pPr>
          </a:lstStyle>
          <a:p>
            <a:fld id="{26BC3862-9A0E-8D45-8851-D3D1E9E79E35}" type="datetimeFigureOut">
              <a:rPr lang="en-GB" smtClean="0"/>
              <a:t>09/12/2023</a:t>
            </a:fld>
            <a:endParaRPr lang="en-GB"/>
          </a:p>
        </p:txBody>
      </p:sp>
      <p:sp>
        <p:nvSpPr>
          <p:cNvPr id="4" name="Footer Placeholder 3">
            <a:extLst>
              <a:ext uri="{FF2B5EF4-FFF2-40B4-BE49-F238E27FC236}">
                <a16:creationId xmlns:a16="http://schemas.microsoft.com/office/drawing/2014/main" id="{C5C5892D-D1DF-524A-995F-C2AC70EDDB07}"/>
              </a:ext>
            </a:extLst>
          </p:cNvPr>
          <p:cNvSpPr>
            <a:spLocks noGrp="1"/>
          </p:cNvSpPr>
          <p:nvPr>
            <p:ph type="ftr" sz="quarter" idx="2"/>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F487BF9-7D54-9542-A137-65D3B7AB84FE}"/>
              </a:ext>
            </a:extLst>
          </p:cNvPr>
          <p:cNvSpPr>
            <a:spLocks noGrp="1"/>
          </p:cNvSpPr>
          <p:nvPr>
            <p:ph type="sldNum" sz="quarter" idx="3"/>
          </p:nvPr>
        </p:nvSpPr>
        <p:spPr>
          <a:xfrm>
            <a:off x="3850443" y="9428584"/>
            <a:ext cx="2945659" cy="498055"/>
          </a:xfrm>
          <a:prstGeom prst="rect">
            <a:avLst/>
          </a:prstGeom>
        </p:spPr>
        <p:txBody>
          <a:bodyPr vert="horz" lIns="91440" tIns="45720" rIns="91440" bIns="45720" rtlCol="0" anchor="b"/>
          <a:lstStyle>
            <a:lvl1pPr algn="r">
              <a:defRPr sz="1200"/>
            </a:lvl1pPr>
          </a:lstStyle>
          <a:p>
            <a:fld id="{9389D33C-CC47-D941-BA46-9DC756C74826}" type="slidenum">
              <a:rPr lang="en-GB" smtClean="0"/>
              <a:t>‹#›</a:t>
            </a:fld>
            <a:endParaRPr lang="en-GB"/>
          </a:p>
        </p:txBody>
      </p:sp>
    </p:spTree>
    <p:extLst>
      <p:ext uri="{BB962C8B-B14F-4D97-AF65-F5344CB8AC3E}">
        <p14:creationId xmlns:p14="http://schemas.microsoft.com/office/powerpoint/2010/main" val="29607356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F219FAC-6822-5D45-B6D7-159040EBDA1D}" type="datetimeFigureOut">
              <a:rPr lang="en-US" smtClean="0"/>
              <a:t>12/9/2023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370E1B22-2DBE-1B42-9AD7-8EA3C1BAF1FD}" type="slidenum">
              <a:rPr lang="en-US" smtClean="0"/>
              <a:t>‹#›</a:t>
            </a:fld>
            <a:endParaRPr lang="en-US"/>
          </a:p>
        </p:txBody>
      </p:sp>
    </p:spTree>
    <p:extLst>
      <p:ext uri="{BB962C8B-B14F-4D97-AF65-F5344CB8AC3E}">
        <p14:creationId xmlns:p14="http://schemas.microsoft.com/office/powerpoint/2010/main" val="35434959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Booking a flight can pose challenges, but Malaysia stands out as the country with the highest completion rate of flight applications, closely followed by Australia, China, and others.</a:t>
            </a:r>
            <a:endParaRPr lang="en-GB" sz="1100"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British Airways receives the highest average ratings, starting with Indonesia, followed by Jordan and Panama, all rating the airline 10.</a:t>
            </a:r>
            <a:endParaRPr lang="en-GB" sz="1200"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smtClean="0"/>
              <a:t>The booking application is most popular in Australia, followed by Malaysia and South Korea, with other countries following suit.</a:t>
            </a:r>
            <a:endParaRPr lang="en-GB" sz="1200" dirty="0" smtClean="0"/>
          </a:p>
          <a:p>
            <a:endParaRPr lang="en-US" dirty="0"/>
          </a:p>
        </p:txBody>
      </p:sp>
      <p:sp>
        <p:nvSpPr>
          <p:cNvPr id="4" name="Slide Number Placeholder 3"/>
          <p:cNvSpPr>
            <a:spLocks noGrp="1"/>
          </p:cNvSpPr>
          <p:nvPr>
            <p:ph type="sldNum" sz="quarter" idx="10"/>
          </p:nvPr>
        </p:nvSpPr>
        <p:spPr/>
        <p:txBody>
          <a:bodyPr/>
          <a:lstStyle/>
          <a:p>
            <a:fld id="{370E1B22-2DBE-1B42-9AD7-8EA3C1BAF1FD}" type="slidenum">
              <a:rPr lang="en-US" smtClean="0"/>
              <a:t>3</a:t>
            </a:fld>
            <a:endParaRPr lang="en-US"/>
          </a:p>
        </p:txBody>
      </p:sp>
    </p:spTree>
    <p:extLst>
      <p:ext uri="{BB962C8B-B14F-4D97-AF65-F5344CB8AC3E}">
        <p14:creationId xmlns:p14="http://schemas.microsoft.com/office/powerpoint/2010/main" val="97092270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ABBA Confident Blue)">
    <p:bg>
      <p:bgPr>
        <a:solidFill>
          <a:srgbClr val="0B5574"/>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B57CF7-57C6-0A40-B1F2-2B6C75EAF4C1}"/>
              </a:ext>
            </a:extLst>
          </p:cNvPr>
          <p:cNvSpPr/>
          <p:nvPr userDrawn="1"/>
        </p:nvSpPr>
        <p:spPr>
          <a:xfrm>
            <a:off x="0" y="0"/>
            <a:ext cx="12192000" cy="6858000"/>
          </a:xfrm>
          <a:prstGeom prst="rect">
            <a:avLst/>
          </a:prstGeom>
          <a:gradFill>
            <a:gsLst>
              <a:gs pos="0">
                <a:schemeClr val="accent1">
                  <a:lumMod val="5000"/>
                  <a:lumOff val="95000"/>
                  <a:alpha val="14550"/>
                </a:schemeClr>
              </a:gs>
              <a:gs pos="100000">
                <a:schemeClr val="bg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29C2A4-908C-CC4D-886F-D63CEFE6C99E}"/>
              </a:ext>
            </a:extLst>
          </p:cNvPr>
          <p:cNvSpPr>
            <a:spLocks noGrp="1"/>
          </p:cNvSpPr>
          <p:nvPr>
            <p:ph type="ctrTitle" hasCustomPrompt="1"/>
          </p:nvPr>
        </p:nvSpPr>
        <p:spPr>
          <a:xfrm>
            <a:off x="2781300" y="2619351"/>
            <a:ext cx="6629400" cy="2387600"/>
          </a:xfrm>
        </p:spPr>
        <p:txBody>
          <a:bodyPr anchor="ctr">
            <a:normAutofit/>
          </a:bodyPr>
          <a:lstStyle>
            <a:lvl1pPr algn="ctr">
              <a:defRPr sz="4800" cap="all" baseline="0">
                <a:ln w="22225">
                  <a:solidFill>
                    <a:schemeClr val="tx1"/>
                  </a:solidFill>
                </a:ln>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ADEFAB31-5DD6-FF49-8ADF-E3D5407890D0}"/>
              </a:ext>
            </a:extLst>
          </p:cNvPr>
          <p:cNvSpPr>
            <a:spLocks noGrp="1"/>
          </p:cNvSpPr>
          <p:nvPr>
            <p:ph type="subTitle" idx="1" hasCustomPrompt="1"/>
          </p:nvPr>
        </p:nvSpPr>
        <p:spPr>
          <a:xfrm>
            <a:off x="1524000" y="5264622"/>
            <a:ext cx="9144000" cy="870483"/>
          </a:xfrm>
        </p:spPr>
        <p:txBody>
          <a:bodyPr anchor="ctr">
            <a:normAutofit/>
          </a:bodyPr>
          <a:lstStyle>
            <a:lvl1pPr marL="0" indent="0" algn="ctr">
              <a:buNone/>
              <a:defRPr sz="1600" cap="all" spc="300"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pic>
        <p:nvPicPr>
          <p:cNvPr id="8" name="Picture 7" descr="Shape, rectangle&#10;&#10;Description automatically generated">
            <a:extLst>
              <a:ext uri="{FF2B5EF4-FFF2-40B4-BE49-F238E27FC236}">
                <a16:creationId xmlns:a16="http://schemas.microsoft.com/office/drawing/2014/main" id="{A27A5A19-5A06-0542-ACEE-E9C0FD0BF1AD}"/>
              </a:ext>
            </a:extLst>
          </p:cNvPr>
          <p:cNvPicPr>
            <a:picLocks noChangeAspect="1"/>
          </p:cNvPicPr>
          <p:nvPr userDrawn="1"/>
        </p:nvPicPr>
        <p:blipFill>
          <a:blip r:embed="rId2"/>
          <a:stretch>
            <a:fillRect/>
          </a:stretch>
        </p:blipFill>
        <p:spPr>
          <a:xfrm>
            <a:off x="5293068" y="858819"/>
            <a:ext cx="1605864" cy="399469"/>
          </a:xfrm>
          <a:prstGeom prst="rect">
            <a:avLst/>
          </a:prstGeom>
        </p:spPr>
      </p:pic>
      <p:sp>
        <p:nvSpPr>
          <p:cNvPr id="9" name="Text Placeholder 19">
            <a:extLst>
              <a:ext uri="{FF2B5EF4-FFF2-40B4-BE49-F238E27FC236}">
                <a16:creationId xmlns:a16="http://schemas.microsoft.com/office/drawing/2014/main" id="{27C31EAC-3710-F943-BE5E-2D615FF5BC7A}"/>
              </a:ext>
            </a:extLst>
          </p:cNvPr>
          <p:cNvSpPr>
            <a:spLocks noGrp="1"/>
          </p:cNvSpPr>
          <p:nvPr>
            <p:ph type="body" sz="quarter" idx="10"/>
          </p:nvPr>
        </p:nvSpPr>
        <p:spPr>
          <a:xfrm>
            <a:off x="1524000" y="6230124"/>
            <a:ext cx="9144000" cy="275781"/>
          </a:xfrm>
        </p:spPr>
        <p:txBody>
          <a:bodyPr anchor="ctr">
            <a:spAutoFit/>
          </a:bodyPr>
          <a:lstStyle>
            <a:lvl1pPr marL="0" indent="0" algn="ctr">
              <a:buNone/>
              <a:defRPr sz="900" spc="150" baseline="0">
                <a:solidFill>
                  <a:schemeClr val="tx1"/>
                </a:solidFill>
              </a:defRPr>
            </a:lvl1pPr>
          </a:lstStyle>
          <a:p>
            <a:pPr lvl="0"/>
            <a:r>
              <a:rPr lang="en-GB" dirty="0"/>
              <a:t>Click to edit Master text styles</a:t>
            </a:r>
          </a:p>
        </p:txBody>
      </p:sp>
      <p:sp>
        <p:nvSpPr>
          <p:cNvPr id="5" name="Text Placeholder 19">
            <a:extLst>
              <a:ext uri="{FF2B5EF4-FFF2-40B4-BE49-F238E27FC236}">
                <a16:creationId xmlns:a16="http://schemas.microsoft.com/office/drawing/2014/main" id="{C6B38141-EC7F-BEE3-92F4-3D7770E58821}"/>
              </a:ext>
            </a:extLst>
          </p:cNvPr>
          <p:cNvSpPr>
            <a:spLocks noGrp="1"/>
          </p:cNvSpPr>
          <p:nvPr>
            <p:ph type="body" sz="quarter" idx="11" hasCustomPrompt="1"/>
          </p:nvPr>
        </p:nvSpPr>
        <p:spPr>
          <a:xfrm>
            <a:off x="1338470" y="291519"/>
            <a:ext cx="9144000" cy="275781"/>
          </a:xfrm>
        </p:spPr>
        <p:txBody>
          <a:bodyPr anchor="ctr">
            <a:spAutoFit/>
          </a:bodyPr>
          <a:lstStyle>
            <a:lvl1pPr marL="0" indent="0" algn="ctr">
              <a:buNone/>
              <a:defRPr sz="1100" spc="150" baseline="0">
                <a:solidFill>
                  <a:schemeClr val="tx1"/>
                </a:solidFill>
              </a:defRPr>
            </a:lvl1pPr>
          </a:lstStyle>
          <a:p>
            <a:pPr lvl="0"/>
            <a:r>
              <a:rPr lang="en-GB" dirty="0"/>
              <a:t>FOR PURPOSES OF FORAGE VIRTUAL WORK EXPERIENCE PROGRAM</a:t>
            </a:r>
          </a:p>
        </p:txBody>
      </p:sp>
    </p:spTree>
    <p:extLst>
      <p:ext uri="{BB962C8B-B14F-4D97-AF65-F5344CB8AC3E}">
        <p14:creationId xmlns:p14="http://schemas.microsoft.com/office/powerpoint/2010/main" val="333761645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B0E61-84B1-4AFC-B45F-6282A9D900C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E29384-1523-4337-B839-96FA617ED957}"/>
              </a:ext>
            </a:extLst>
          </p:cNvPr>
          <p:cNvSpPr>
            <a:spLocks noGrp="1"/>
          </p:cNvSpPr>
          <p:nvPr>
            <p:ph type="dt" sz="half" idx="10"/>
          </p:nvPr>
        </p:nvSpPr>
        <p:spPr/>
        <p:txBody>
          <a:bodyPr/>
          <a:lstStyle/>
          <a:p>
            <a:fld id="{0CBD1D9E-D27F-4554-BE6E-550908FE1FBE}" type="datetime1">
              <a:rPr lang="en-GB" smtClean="0"/>
              <a:pPr/>
              <a:t>09/12/2023</a:t>
            </a:fld>
            <a:endParaRPr lang="en-GB"/>
          </a:p>
        </p:txBody>
      </p:sp>
      <p:sp>
        <p:nvSpPr>
          <p:cNvPr id="4" name="Content Placeholder 2">
            <a:extLst>
              <a:ext uri="{FF2B5EF4-FFF2-40B4-BE49-F238E27FC236}">
                <a16:creationId xmlns:a16="http://schemas.microsoft.com/office/drawing/2014/main" id="{2B9385B3-85E9-4023-BC4A-ADA40024170A}"/>
              </a:ext>
            </a:extLst>
          </p:cNvPr>
          <p:cNvSpPr>
            <a:spLocks noGrp="1"/>
          </p:cNvSpPr>
          <p:nvPr>
            <p:ph idx="11" hasCustomPrompt="1"/>
          </p:nvPr>
        </p:nvSpPr>
        <p:spPr>
          <a:xfrm>
            <a:off x="447675" y="1676401"/>
            <a:ext cx="10749412" cy="4429124"/>
          </a:xfrm>
          <a:prstGeom prst="rect">
            <a:avLst/>
          </a:prstGeom>
        </p:spPr>
        <p:txBody>
          <a:bodyPr/>
          <a:lstStyle>
            <a:lvl1pPr marL="0" indent="0">
              <a:lnSpc>
                <a:spcPct val="100000"/>
              </a:lnSpc>
              <a:buNone/>
              <a:defRPr sz="1600" b="1"/>
            </a:lvl1pPr>
            <a:lvl2pPr marL="7938" indent="0">
              <a:buNone/>
              <a:tabLst/>
              <a:defRPr sz="1400"/>
            </a:lvl2pPr>
            <a:lvl3pPr marL="447675" indent="-188913">
              <a:tabLst/>
              <a:defRPr sz="1200"/>
            </a:lvl3pPr>
            <a:lvl4pPr marL="715963" indent="-233363">
              <a:tabLst/>
              <a:defRPr sz="1100"/>
            </a:lvl4pPr>
            <a:lvl5pPr marL="984250" indent="-233363">
              <a:tabLst/>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2869011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B0E61-84B1-4AFC-B45F-6282A9D900C7}"/>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5BE29384-1523-4337-B839-96FA617ED957}"/>
              </a:ext>
            </a:extLst>
          </p:cNvPr>
          <p:cNvSpPr>
            <a:spLocks noGrp="1"/>
          </p:cNvSpPr>
          <p:nvPr>
            <p:ph type="dt" sz="half" idx="10"/>
          </p:nvPr>
        </p:nvSpPr>
        <p:spPr/>
        <p:txBody>
          <a:bodyPr/>
          <a:lstStyle/>
          <a:p>
            <a:fld id="{0CBD1D9E-D27F-4554-BE6E-550908FE1FBE}" type="datetime1">
              <a:rPr lang="en-GB" smtClean="0"/>
              <a:pPr/>
              <a:t>09/12/2023</a:t>
            </a:fld>
            <a:endParaRPr lang="en-GB"/>
          </a:p>
        </p:txBody>
      </p:sp>
      <p:sp>
        <p:nvSpPr>
          <p:cNvPr id="4" name="Content Placeholder 2">
            <a:extLst>
              <a:ext uri="{FF2B5EF4-FFF2-40B4-BE49-F238E27FC236}">
                <a16:creationId xmlns:a16="http://schemas.microsoft.com/office/drawing/2014/main" id="{2B9385B3-85E9-4023-BC4A-ADA40024170A}"/>
              </a:ext>
            </a:extLst>
          </p:cNvPr>
          <p:cNvSpPr>
            <a:spLocks noGrp="1"/>
          </p:cNvSpPr>
          <p:nvPr>
            <p:ph idx="11" hasCustomPrompt="1"/>
          </p:nvPr>
        </p:nvSpPr>
        <p:spPr>
          <a:xfrm>
            <a:off x="447675" y="1676401"/>
            <a:ext cx="10749412" cy="4429124"/>
          </a:xfrm>
          <a:prstGeom prst="rect">
            <a:avLst/>
          </a:prstGeom>
        </p:spPr>
        <p:txBody>
          <a:bodyPr/>
          <a:lstStyle>
            <a:lvl1pPr marL="0" indent="0">
              <a:lnSpc>
                <a:spcPct val="100000"/>
              </a:lnSpc>
              <a:buNone/>
              <a:defRPr sz="1600" b="1"/>
            </a:lvl1pPr>
            <a:lvl2pPr marL="7938" indent="0">
              <a:buNone/>
              <a:tabLst/>
              <a:defRPr sz="1400"/>
            </a:lvl2pPr>
            <a:lvl3pPr marL="447675" indent="-188913">
              <a:tabLst/>
              <a:defRPr sz="1200"/>
            </a:lvl3pPr>
            <a:lvl4pPr marL="715963" indent="-233363">
              <a:tabLst/>
              <a:defRPr sz="1100"/>
            </a:lvl4pPr>
            <a:lvl5pPr marL="984250" indent="-233363">
              <a:tabLst/>
              <a:defRPr sz="11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135839903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47874"/>
        </a:solidFill>
        <a:effectLst/>
      </p:bgPr>
    </p:bg>
    <p:spTree>
      <p:nvGrpSpPr>
        <p:cNvPr id="1" name=""/>
        <p:cNvGrpSpPr/>
        <p:nvPr/>
      </p:nvGrpSpPr>
      <p:grpSpPr>
        <a:xfrm>
          <a:off x="0" y="0"/>
          <a:ext cx="0" cy="0"/>
          <a:chOff x="0" y="0"/>
          <a:chExt cx="0" cy="0"/>
        </a:xfrm>
      </p:grpSpPr>
      <p:sp>
        <p:nvSpPr>
          <p:cNvPr id="2" name="Text Placeholder 19">
            <a:extLst>
              <a:ext uri="{FF2B5EF4-FFF2-40B4-BE49-F238E27FC236}">
                <a16:creationId xmlns:a16="http://schemas.microsoft.com/office/drawing/2014/main" id="{A0E0B4F7-25A6-07E6-ABB4-145D294D87B4}"/>
              </a:ext>
            </a:extLst>
          </p:cNvPr>
          <p:cNvSpPr txBox="1">
            <a:spLocks/>
          </p:cNvSpPr>
          <p:nvPr userDrawn="1"/>
        </p:nvSpPr>
        <p:spPr>
          <a:xfrm>
            <a:off x="1338470" y="291519"/>
            <a:ext cx="9144000" cy="275781"/>
          </a:xfrm>
        </p:spPr>
        <p:txBody>
          <a:bodyPr anchor="ctr">
            <a:spAutoFit/>
          </a:bodyPr>
          <a:lstStyle>
            <a:lvl1pPr marL="0" indent="0" algn="ctr" defTabSz="914400" rtl="0" eaLnBrk="1" latinLnBrk="0" hangingPunct="1">
              <a:lnSpc>
                <a:spcPct val="150000"/>
              </a:lnSpc>
              <a:spcBef>
                <a:spcPts val="1000"/>
              </a:spcBef>
              <a:buFont typeface="Arial" panose="020B0604020202020204" pitchFamily="34" charset="0"/>
              <a:buNone/>
              <a:defRPr sz="1100" b="0" i="0" kern="1200" spc="150" baseline="0">
                <a:solidFill>
                  <a:schemeClr val="tx1"/>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bg1"/>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bg1"/>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FOR PURPOSES OF FORAGE VIRTUAL WORK EXPERIENCE PROGRAM</a:t>
            </a:r>
          </a:p>
        </p:txBody>
      </p:sp>
    </p:spTree>
    <p:extLst>
      <p:ext uri="{BB962C8B-B14F-4D97-AF65-F5344CB8AC3E}">
        <p14:creationId xmlns:p14="http://schemas.microsoft.com/office/powerpoint/2010/main" val="1059433018"/>
      </p:ext>
    </p:extLst>
  </p:cSld>
  <p:clrMap bg1="lt1" tx1="dk1" bg2="lt2" tx2="dk2" accent1="accent1" accent2="accent2" accent3="accent3" accent4="accent4" accent5="accent5" accent6="accent6" hlink="hlink" folHlink="folHlink"/>
  <p:sldLayoutIdLst>
    <p:sldLayoutId id="2147483887" r:id="rId1"/>
  </p:sldLayoutIdLst>
  <p:txStyles>
    <p:titleStyle>
      <a:lvl1pPr algn="ctr" defTabSz="914400" rtl="0" eaLnBrk="1" latinLnBrk="0" hangingPunct="1">
        <a:lnSpc>
          <a:spcPct val="90000"/>
        </a:lnSpc>
        <a:spcBef>
          <a:spcPct val="0"/>
        </a:spcBef>
        <a:buNone/>
        <a:defRPr sz="4400" b="1" i="0" kern="1200" spc="600">
          <a:ln w="19050">
            <a:solidFill>
              <a:schemeClr val="bg1"/>
            </a:solidFill>
          </a:ln>
          <a:noFill/>
          <a:latin typeface="Mylius Modern" panose="020B0504020202020204" pitchFamily="34" charset="0"/>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800" b="0" i="0" kern="1200">
          <a:solidFill>
            <a:schemeClr val="bg1"/>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2400" b="0" i="0" kern="1200">
          <a:solidFill>
            <a:schemeClr val="bg1"/>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2000" b="0" i="0" kern="1200">
          <a:solidFill>
            <a:schemeClr val="bg1"/>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800" b="0" i="0" kern="1200">
          <a:solidFill>
            <a:schemeClr val="bg1"/>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BCAE110-9424-BA48-83B0-E7C192BA04BD}"/>
              </a:ext>
            </a:extLst>
          </p:cNvPr>
          <p:cNvSpPr/>
          <p:nvPr userDrawn="1"/>
        </p:nvSpPr>
        <p:spPr>
          <a:xfrm>
            <a:off x="0" y="0"/>
            <a:ext cx="12192000" cy="1045029"/>
          </a:xfrm>
          <a:prstGeom prst="rect">
            <a:avLst/>
          </a:prstGeom>
          <a:solidFill>
            <a:srgbClr val="ADD1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7FA82D79-3D00-3A42-BD93-6B3D72B8C049}"/>
              </a:ext>
            </a:extLst>
          </p:cNvPr>
          <p:cNvSpPr txBox="1"/>
          <p:nvPr userDrawn="1"/>
        </p:nvSpPr>
        <p:spPr>
          <a:xfrm>
            <a:off x="256583" y="6591386"/>
            <a:ext cx="4550546" cy="184666"/>
          </a:xfrm>
          <a:prstGeom prst="rect">
            <a:avLst/>
          </a:prstGeom>
          <a:noFill/>
        </p:spPr>
        <p:txBody>
          <a:bodyPr wrap="square" rtlCol="0">
            <a:spAutoFit/>
          </a:bodyPr>
          <a:lstStyle/>
          <a:p>
            <a:r>
              <a:rPr lang="en-US" sz="600" b="0" i="0" spc="0" dirty="0">
                <a:solidFill>
                  <a:srgbClr val="BEB3B2"/>
                </a:solidFill>
                <a:latin typeface="Mylius Modern" panose="020B0504020202020204" pitchFamily="34" charset="0"/>
              </a:rPr>
              <a:t>FOR PURPOSES OF FORAGE VIRTUAL WORK EXPERIENCE PROGRAM</a:t>
            </a:r>
          </a:p>
        </p:txBody>
      </p:sp>
      <p:sp>
        <p:nvSpPr>
          <p:cNvPr id="13" name="Slide Number Placeholder 5">
            <a:extLst>
              <a:ext uri="{FF2B5EF4-FFF2-40B4-BE49-F238E27FC236}">
                <a16:creationId xmlns:a16="http://schemas.microsoft.com/office/drawing/2014/main" id="{EB54ABC8-9A94-4548-9736-C4C7B4C0BAE2}"/>
              </a:ext>
            </a:extLst>
          </p:cNvPr>
          <p:cNvSpPr txBox="1">
            <a:spLocks/>
          </p:cNvSpPr>
          <p:nvPr userDrawn="1"/>
        </p:nvSpPr>
        <p:spPr>
          <a:xfrm>
            <a:off x="11251474" y="6583692"/>
            <a:ext cx="710068" cy="184666"/>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51BACC82-5A65-4E43-B4FE-801ED5E2C88E}" type="slidenum">
              <a:rPr lang="en-GB" sz="700" b="0" i="0" smtClean="0">
                <a:solidFill>
                  <a:srgbClr val="BEB3B2"/>
                </a:solidFill>
                <a:latin typeface="Mylius Modern" panose="020B0504020202020204" pitchFamily="34" charset="0"/>
              </a:rPr>
              <a:pPr algn="r"/>
              <a:t>‹#›</a:t>
            </a:fld>
            <a:endParaRPr lang="en-GB" sz="1000" b="0" i="0">
              <a:solidFill>
                <a:srgbClr val="BEB3B2"/>
              </a:solidFill>
              <a:latin typeface="Mylius Modern" panose="020B0504020202020204" pitchFamily="34" charset="0"/>
            </a:endParaRPr>
          </a:p>
        </p:txBody>
      </p:sp>
      <p:sp>
        <p:nvSpPr>
          <p:cNvPr id="6" name="Title Placeholder 1">
            <a:extLst>
              <a:ext uri="{FF2B5EF4-FFF2-40B4-BE49-F238E27FC236}">
                <a16:creationId xmlns:a16="http://schemas.microsoft.com/office/drawing/2014/main" id="{58A772E0-A577-FA4A-8DD2-882CD356302E}"/>
              </a:ext>
            </a:extLst>
          </p:cNvPr>
          <p:cNvSpPr>
            <a:spLocks noGrp="1"/>
          </p:cNvSpPr>
          <p:nvPr>
            <p:ph type="title"/>
          </p:nvPr>
        </p:nvSpPr>
        <p:spPr>
          <a:xfrm>
            <a:off x="343672" y="323488"/>
            <a:ext cx="8797438" cy="442867"/>
          </a:xfrm>
          <a:prstGeom prst="rect">
            <a:avLst/>
          </a:prstGeom>
        </p:spPr>
        <p:txBody>
          <a:bodyPr vert="horz" wrap="square" lIns="0" tIns="0" rIns="0" bIns="0" rtlCol="0" anchor="ctr" anchorCtr="0">
            <a:noAutofit/>
          </a:bodyPr>
          <a:lstStyle/>
          <a:p>
            <a:r>
              <a:rPr lang="en-GB"/>
              <a:t>CLICK TO EDIT MASTER TITLE STYLE</a:t>
            </a:r>
          </a:p>
        </p:txBody>
      </p:sp>
      <p:pic>
        <p:nvPicPr>
          <p:cNvPr id="8" name="Picture 7" descr="Shape, rectangle&#10;&#10;Description automatically generated">
            <a:extLst>
              <a:ext uri="{FF2B5EF4-FFF2-40B4-BE49-F238E27FC236}">
                <a16:creationId xmlns:a16="http://schemas.microsoft.com/office/drawing/2014/main" id="{282FE7E8-8ACE-C049-AD78-27A9B8AC9B86}"/>
              </a:ext>
            </a:extLst>
          </p:cNvPr>
          <p:cNvPicPr>
            <a:picLocks noChangeAspect="1"/>
          </p:cNvPicPr>
          <p:nvPr userDrawn="1"/>
        </p:nvPicPr>
        <p:blipFill>
          <a:blip r:embed="rId4"/>
          <a:stretch>
            <a:fillRect/>
          </a:stretch>
        </p:blipFill>
        <p:spPr>
          <a:xfrm>
            <a:off x="10810753" y="368300"/>
            <a:ext cx="1046285" cy="260270"/>
          </a:xfrm>
          <a:prstGeom prst="rect">
            <a:avLst/>
          </a:prstGeom>
        </p:spPr>
      </p:pic>
      <p:sp>
        <p:nvSpPr>
          <p:cNvPr id="9" name="Date Placeholder 3">
            <a:extLst>
              <a:ext uri="{FF2B5EF4-FFF2-40B4-BE49-F238E27FC236}">
                <a16:creationId xmlns:a16="http://schemas.microsoft.com/office/drawing/2014/main" id="{C33239F7-E119-B84B-937E-C500AF04A255}"/>
              </a:ext>
            </a:extLst>
          </p:cNvPr>
          <p:cNvSpPr>
            <a:spLocks noGrp="1"/>
          </p:cNvSpPr>
          <p:nvPr>
            <p:ph type="dt" sz="half" idx="2"/>
          </p:nvPr>
        </p:nvSpPr>
        <p:spPr>
          <a:xfrm>
            <a:off x="8592159" y="6622164"/>
            <a:ext cx="2741736" cy="107722"/>
          </a:xfrm>
          <a:prstGeom prst="rect">
            <a:avLst/>
          </a:prstGeom>
        </p:spPr>
        <p:txBody>
          <a:bodyPr vert="horz" wrap="square" lIns="0" tIns="0" rIns="0" bIns="0" rtlCol="0" anchor="ctr">
            <a:spAutoFit/>
          </a:bodyPr>
          <a:lstStyle>
            <a:lvl1pPr algn="r">
              <a:defRPr lang="en-GB" sz="700" b="0" i="0" cap="all" spc="110" baseline="0" smtClean="0">
                <a:solidFill>
                  <a:srgbClr val="BEB3B2"/>
                </a:solidFill>
                <a:latin typeface="Mylius Modern" panose="020B0504020202020204" pitchFamily="34" charset="0"/>
              </a:defRPr>
            </a:lvl1pPr>
          </a:lstStyle>
          <a:p>
            <a:fld id="{0CBD1D9E-D27F-4554-BE6E-550908FE1FBE}" type="datetime1">
              <a:rPr lang="en-GB" smtClean="0"/>
              <a:pPr/>
              <a:t>09/12/2023</a:t>
            </a:fld>
            <a:endParaRPr lang="en-GB"/>
          </a:p>
        </p:txBody>
      </p:sp>
    </p:spTree>
    <p:extLst>
      <p:ext uri="{BB962C8B-B14F-4D97-AF65-F5344CB8AC3E}">
        <p14:creationId xmlns:p14="http://schemas.microsoft.com/office/powerpoint/2010/main" val="252218035"/>
      </p:ext>
    </p:extLst>
  </p:cSld>
  <p:clrMap bg1="lt1" tx1="dk1" bg2="lt2" tx2="dk2" accent1="accent1" accent2="accent2" accent3="accent3" accent4="accent4" accent5="accent5" accent6="accent6" hlink="hlink" folHlink="folHlink"/>
  <p:sldLayoutIdLst>
    <p:sldLayoutId id="2147483749" r:id="rId1"/>
    <p:sldLayoutId id="2147483926" r:id="rId2"/>
  </p:sldLayoutIdLst>
  <p:txStyles>
    <p:titleStyle>
      <a:lvl1pPr algn="l" defTabSz="914400" rtl="0" eaLnBrk="1" latinLnBrk="0" hangingPunct="1">
        <a:lnSpc>
          <a:spcPct val="90000"/>
        </a:lnSpc>
        <a:spcBef>
          <a:spcPct val="0"/>
        </a:spcBef>
        <a:buNone/>
        <a:defRPr sz="2800" b="0" i="0" kern="1200" cap="all" spc="600" baseline="0">
          <a:solidFill>
            <a:schemeClr val="bg1"/>
          </a:solidFill>
          <a:latin typeface="Mylius Modern" panose="020B0504020202020204" pitchFamily="34" charset="0"/>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2000" b="0" i="0" kern="1200">
          <a:solidFill>
            <a:srgbClr val="0B5574"/>
          </a:solidFill>
          <a:latin typeface="Mylius Modern" panose="020B0504020202020204" pitchFamily="34" charset="0"/>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600" b="0" i="0" kern="1200">
          <a:solidFill>
            <a:srgbClr val="0B5574"/>
          </a:solidFill>
          <a:latin typeface="Mylius Modern" panose="020B0504020202020204" pitchFamily="34" charset="0"/>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b="0" i="0" kern="1200">
          <a:solidFill>
            <a:srgbClr val="0B5574"/>
          </a:solidFill>
          <a:latin typeface="Mylius Modern" panose="020B0504020202020204" pitchFamily="34" charset="0"/>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b="0" i="0" kern="1200">
          <a:solidFill>
            <a:srgbClr val="0B5574"/>
          </a:solidFill>
          <a:latin typeface="Mylius Modern" panose="020B0504020202020204" pitchFamily="34" charset="0"/>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1">
          <p15:clr>
            <a:srgbClr val="F26B43"/>
          </p15:clr>
        </p15:guide>
        <p15:guide id="2" orient="horz" pos="232">
          <p15:clr>
            <a:srgbClr val="F26B43"/>
          </p15:clr>
        </p15:guide>
        <p15:guide id="3" pos="7469">
          <p15:clr>
            <a:srgbClr val="F26B43"/>
          </p15:clr>
        </p15:guide>
        <p15:guide id="4" orient="horz" pos="408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8A003-EF0F-7525-8F4C-02C1EBAC53E6}"/>
              </a:ext>
            </a:extLst>
          </p:cNvPr>
          <p:cNvSpPr>
            <a:spLocks noGrp="1"/>
          </p:cNvSpPr>
          <p:nvPr>
            <p:ph type="ctrTitle"/>
          </p:nvPr>
        </p:nvSpPr>
        <p:spPr>
          <a:xfrm>
            <a:off x="2781300" y="2000625"/>
            <a:ext cx="6629400" cy="2387600"/>
          </a:xfrm>
        </p:spPr>
        <p:txBody>
          <a:bodyPr/>
          <a:lstStyle/>
          <a:p>
            <a:r>
              <a:rPr lang="en-GB" dirty="0"/>
              <a:t>British Airways</a:t>
            </a:r>
          </a:p>
        </p:txBody>
      </p:sp>
      <p:sp>
        <p:nvSpPr>
          <p:cNvPr id="3" name="Subtitle 2">
            <a:extLst>
              <a:ext uri="{FF2B5EF4-FFF2-40B4-BE49-F238E27FC236}">
                <a16:creationId xmlns:a16="http://schemas.microsoft.com/office/drawing/2014/main" id="{A28FAAD5-BEA6-D647-CD8F-9337612F188E}"/>
              </a:ext>
            </a:extLst>
          </p:cNvPr>
          <p:cNvSpPr>
            <a:spLocks noGrp="1"/>
          </p:cNvSpPr>
          <p:nvPr>
            <p:ph type="subTitle" idx="1"/>
          </p:nvPr>
        </p:nvSpPr>
        <p:spPr>
          <a:xfrm>
            <a:off x="1485672" y="3649364"/>
            <a:ext cx="9144000" cy="870483"/>
          </a:xfrm>
        </p:spPr>
        <p:txBody>
          <a:bodyPr/>
          <a:lstStyle/>
          <a:p>
            <a:r>
              <a:rPr lang="en-GB" dirty="0"/>
              <a:t>Customer ratings analysis and insights</a:t>
            </a:r>
          </a:p>
        </p:txBody>
      </p:sp>
      <p:sp>
        <p:nvSpPr>
          <p:cNvPr id="4" name="Text Placeholder 3">
            <a:extLst>
              <a:ext uri="{FF2B5EF4-FFF2-40B4-BE49-F238E27FC236}">
                <a16:creationId xmlns:a16="http://schemas.microsoft.com/office/drawing/2014/main" id="{35DAAE56-6498-6C34-D5D9-05A0333BD3BC}"/>
              </a:ext>
            </a:extLst>
          </p:cNvPr>
          <p:cNvSpPr>
            <a:spLocks noGrp="1"/>
          </p:cNvSpPr>
          <p:nvPr>
            <p:ph type="body" sz="quarter" idx="10"/>
          </p:nvPr>
        </p:nvSpPr>
        <p:spPr>
          <a:xfrm>
            <a:off x="1524000" y="6230124"/>
            <a:ext cx="9144000" cy="275781"/>
          </a:xfrm>
        </p:spPr>
        <p:txBody>
          <a:bodyPr/>
          <a:lstStyle/>
          <a:p>
            <a:r>
              <a:rPr lang="en-GB" dirty="0" smtClean="0"/>
              <a:t>2023-12-09</a:t>
            </a:r>
            <a:endParaRPr lang="en-GB" dirty="0"/>
          </a:p>
        </p:txBody>
      </p:sp>
      <p:sp>
        <p:nvSpPr>
          <p:cNvPr id="5" name="Subtitle 2">
            <a:extLst>
              <a:ext uri="{FF2B5EF4-FFF2-40B4-BE49-F238E27FC236}">
                <a16:creationId xmlns:a16="http://schemas.microsoft.com/office/drawing/2014/main" id="{A28FAAD5-BEA6-D647-CD8F-9337612F188E}"/>
              </a:ext>
            </a:extLst>
          </p:cNvPr>
          <p:cNvSpPr txBox="1">
            <a:spLocks/>
          </p:cNvSpPr>
          <p:nvPr/>
        </p:nvSpPr>
        <p:spPr>
          <a:xfrm>
            <a:off x="1524000" y="5228019"/>
            <a:ext cx="9144000" cy="870483"/>
          </a:xfrm>
        </p:spPr>
        <p:txBody>
          <a:bodyPr anchor="ctr">
            <a:normAutofit/>
          </a:bodyPr>
          <a:lstStyle>
            <a:lvl1pPr marL="0" indent="0" algn="ctr" defTabSz="914400" rtl="0" eaLnBrk="1" latinLnBrk="0" hangingPunct="1">
              <a:lnSpc>
                <a:spcPct val="150000"/>
              </a:lnSpc>
              <a:spcBef>
                <a:spcPts val="1000"/>
              </a:spcBef>
              <a:buFont typeface="Arial" panose="020B0604020202020204" pitchFamily="34" charset="0"/>
              <a:buNone/>
              <a:defRPr sz="1600" b="0" i="0" kern="1200" cap="all" spc="300" baseline="0">
                <a:solidFill>
                  <a:schemeClr val="tx1"/>
                </a:solidFill>
                <a:latin typeface="Mylius Modern" panose="020B0504020202020204" pitchFamily="34" charset="0"/>
                <a:ea typeface="+mn-ea"/>
                <a:cs typeface="+mn-cs"/>
              </a:defRPr>
            </a:lvl1pPr>
            <a:lvl2pPr marL="457200" indent="0" algn="ctr" defTabSz="914400" rtl="0" eaLnBrk="1" latinLnBrk="0" hangingPunct="1">
              <a:lnSpc>
                <a:spcPct val="150000"/>
              </a:lnSpc>
              <a:spcBef>
                <a:spcPts val="500"/>
              </a:spcBef>
              <a:buFont typeface="Arial" panose="020B0604020202020204" pitchFamily="34" charset="0"/>
              <a:buNone/>
              <a:defRPr sz="2000" b="0" i="0" kern="1200">
                <a:solidFill>
                  <a:schemeClr val="bg1"/>
                </a:solidFill>
                <a:latin typeface="Mylius Modern" panose="020B0504020202020204" pitchFamily="34" charset="0"/>
                <a:ea typeface="+mn-ea"/>
                <a:cs typeface="+mn-cs"/>
              </a:defRPr>
            </a:lvl2pPr>
            <a:lvl3pPr marL="914400" indent="0" algn="ctr" defTabSz="914400" rtl="0" eaLnBrk="1" latinLnBrk="0" hangingPunct="1">
              <a:lnSpc>
                <a:spcPct val="150000"/>
              </a:lnSpc>
              <a:spcBef>
                <a:spcPts val="500"/>
              </a:spcBef>
              <a:buFont typeface="Arial" panose="020B0604020202020204" pitchFamily="34" charset="0"/>
              <a:buNone/>
              <a:defRPr sz="1800" b="0" i="0" kern="1200">
                <a:solidFill>
                  <a:schemeClr val="bg1"/>
                </a:solidFill>
                <a:latin typeface="Mylius Modern" panose="020B0504020202020204" pitchFamily="34" charset="0"/>
                <a:ea typeface="+mn-ea"/>
                <a:cs typeface="+mn-cs"/>
              </a:defRPr>
            </a:lvl3pPr>
            <a:lvl4pPr marL="1371600" indent="0" algn="ctr" defTabSz="914400" rtl="0" eaLnBrk="1" latinLnBrk="0" hangingPunct="1">
              <a:lnSpc>
                <a:spcPct val="150000"/>
              </a:lnSpc>
              <a:spcBef>
                <a:spcPts val="500"/>
              </a:spcBef>
              <a:buFont typeface="Arial" panose="020B0604020202020204" pitchFamily="34" charset="0"/>
              <a:buNone/>
              <a:defRPr sz="1600" b="0" i="0" kern="1200">
                <a:solidFill>
                  <a:schemeClr val="bg1"/>
                </a:solidFill>
                <a:latin typeface="Mylius Modern" panose="020B0504020202020204" pitchFamily="34" charset="0"/>
                <a:ea typeface="+mn-ea"/>
                <a:cs typeface="+mn-cs"/>
              </a:defRPr>
            </a:lvl4pPr>
            <a:lvl5pPr marL="1828800" indent="0" algn="ctr" defTabSz="914400" rtl="0" eaLnBrk="1" latinLnBrk="0" hangingPunct="1">
              <a:lnSpc>
                <a:spcPct val="150000"/>
              </a:lnSpc>
              <a:spcBef>
                <a:spcPts val="500"/>
              </a:spcBef>
              <a:buFont typeface="Arial" panose="020B0604020202020204" pitchFamily="34" charset="0"/>
              <a:buNone/>
              <a:defRPr sz="1600" b="0" i="0" kern="1200">
                <a:solidFill>
                  <a:schemeClr val="bg1"/>
                </a:solidFill>
                <a:latin typeface="Mylius Modern" panose="020B050402020202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GB" dirty="0" smtClean="0"/>
              <a:t>By Ogbuzuru Kelechi</a:t>
            </a:r>
            <a:endParaRPr lang="en-GB" dirty="0"/>
          </a:p>
        </p:txBody>
      </p:sp>
    </p:spTree>
    <p:extLst>
      <p:ext uri="{BB962C8B-B14F-4D97-AF65-F5344CB8AC3E}">
        <p14:creationId xmlns:p14="http://schemas.microsoft.com/office/powerpoint/2010/main" val="130638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9EE2-AB7B-7C0C-1FC8-20E35CF4B6CB}"/>
              </a:ext>
            </a:extLst>
          </p:cNvPr>
          <p:cNvSpPr>
            <a:spLocks noGrp="1"/>
          </p:cNvSpPr>
          <p:nvPr>
            <p:ph type="title"/>
          </p:nvPr>
        </p:nvSpPr>
        <p:spPr/>
        <p:txBody>
          <a:bodyPr/>
          <a:lstStyle/>
          <a:p>
            <a:r>
              <a:rPr lang="en-GB" dirty="0"/>
              <a:t>Key metrics	</a:t>
            </a:r>
          </a:p>
        </p:txBody>
      </p:sp>
      <p:grpSp>
        <p:nvGrpSpPr>
          <p:cNvPr id="7" name="Group 6">
            <a:extLst>
              <a:ext uri="{FF2B5EF4-FFF2-40B4-BE49-F238E27FC236}">
                <a16:creationId xmlns:a16="http://schemas.microsoft.com/office/drawing/2014/main" id="{980C8E2D-6F16-E76F-C2AD-D6E072057543}"/>
              </a:ext>
            </a:extLst>
          </p:cNvPr>
          <p:cNvGrpSpPr/>
          <p:nvPr/>
        </p:nvGrpSpPr>
        <p:grpSpPr>
          <a:xfrm>
            <a:off x="183636" y="1184916"/>
            <a:ext cx="1759459" cy="807170"/>
            <a:chOff x="558495" y="1385290"/>
            <a:chExt cx="2611789" cy="991056"/>
          </a:xfrm>
        </p:grpSpPr>
        <p:sp>
          <p:nvSpPr>
            <p:cNvPr id="4" name="Rectangle: Rounded Corners 3">
              <a:extLst>
                <a:ext uri="{FF2B5EF4-FFF2-40B4-BE49-F238E27FC236}">
                  <a16:creationId xmlns:a16="http://schemas.microsoft.com/office/drawing/2014/main" id="{94F5EF8C-C23B-4148-27C7-A0A1758B0E3D}"/>
                </a:ext>
              </a:extLst>
            </p:cNvPr>
            <p:cNvSpPr/>
            <p:nvPr/>
          </p:nvSpPr>
          <p:spPr>
            <a:xfrm>
              <a:off x="558495" y="1385290"/>
              <a:ext cx="2611789" cy="991056"/>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1400" dirty="0">
                  <a:solidFill>
                    <a:schemeClr val="bg1"/>
                  </a:solidFill>
                </a:rPr>
                <a:t>Average Overall Rating</a:t>
              </a:r>
            </a:p>
            <a:p>
              <a:pPr algn="ctr"/>
              <a:r>
                <a:rPr lang="en-CA" sz="2400" b="1" dirty="0" smtClean="0">
                  <a:solidFill>
                    <a:schemeClr val="bg1"/>
                  </a:solidFill>
                </a:rPr>
                <a:t>4.63</a:t>
              </a:r>
              <a:endParaRPr lang="en-CA" sz="2400" b="1" dirty="0">
                <a:solidFill>
                  <a:schemeClr val="bg1"/>
                </a:solidFill>
              </a:endParaRPr>
            </a:p>
          </p:txBody>
        </p:sp>
        <p:sp>
          <p:nvSpPr>
            <p:cNvPr id="5" name="Star: 5 Points 4">
              <a:extLst>
                <a:ext uri="{FF2B5EF4-FFF2-40B4-BE49-F238E27FC236}">
                  <a16:creationId xmlns:a16="http://schemas.microsoft.com/office/drawing/2014/main" id="{3F766539-860C-DBD6-653A-1FB51170E8C6}"/>
                </a:ext>
              </a:extLst>
            </p:cNvPr>
            <p:cNvSpPr/>
            <p:nvPr/>
          </p:nvSpPr>
          <p:spPr>
            <a:xfrm>
              <a:off x="764882" y="2038174"/>
              <a:ext cx="278575" cy="253394"/>
            </a:xfrm>
            <a:prstGeom prst="star5">
              <a:avLst>
                <a:gd name="adj" fmla="val 24599"/>
                <a:gd name="hf" fmla="val 105146"/>
                <a:gd name="vf" fmla="val 110557"/>
              </a:avLst>
            </a:prstGeom>
            <a:solidFill>
              <a:srgbClr val="FFFF00"/>
            </a:solidFill>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CA" dirty="0"/>
            </a:p>
          </p:txBody>
        </p:sp>
      </p:grpSp>
      <p:sp>
        <p:nvSpPr>
          <p:cNvPr id="6" name="Rectangle: Rounded Corners 5">
            <a:extLst>
              <a:ext uri="{FF2B5EF4-FFF2-40B4-BE49-F238E27FC236}">
                <a16:creationId xmlns:a16="http://schemas.microsoft.com/office/drawing/2014/main" id="{4762209E-1D98-BAD5-CDD5-77CA946611E7}"/>
              </a:ext>
            </a:extLst>
          </p:cNvPr>
          <p:cNvSpPr/>
          <p:nvPr/>
        </p:nvSpPr>
        <p:spPr>
          <a:xfrm>
            <a:off x="2279705" y="1194562"/>
            <a:ext cx="1609791" cy="797524"/>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1400" dirty="0">
                <a:solidFill>
                  <a:schemeClr val="bg1"/>
                </a:solidFill>
              </a:rPr>
              <a:t>Reviews from </a:t>
            </a:r>
            <a:r>
              <a:rPr lang="en-CA" sz="2400" b="1" dirty="0" smtClean="0">
                <a:solidFill>
                  <a:schemeClr val="bg1"/>
                </a:solidFill>
              </a:rPr>
              <a:t>71</a:t>
            </a:r>
            <a:r>
              <a:rPr lang="en-CA" dirty="0" smtClean="0">
                <a:solidFill>
                  <a:schemeClr val="bg1"/>
                </a:solidFill>
              </a:rPr>
              <a:t> </a:t>
            </a:r>
            <a:r>
              <a:rPr lang="en-CA" sz="1400" dirty="0">
                <a:solidFill>
                  <a:schemeClr val="bg1"/>
                </a:solidFill>
              </a:rPr>
              <a:t>Countries</a:t>
            </a:r>
          </a:p>
        </p:txBody>
      </p:sp>
      <p:pic>
        <p:nvPicPr>
          <p:cNvPr id="11" name="Picture 10">
            <a:extLst>
              <a:ext uri="{FF2B5EF4-FFF2-40B4-BE49-F238E27FC236}">
                <a16:creationId xmlns:a16="http://schemas.microsoft.com/office/drawing/2014/main" id="{233A643E-AB0A-33A1-DFEF-A47873E03B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9909" y="1090335"/>
            <a:ext cx="3139708" cy="2403151"/>
          </a:xfrm>
          <a:prstGeom prst="rect">
            <a:avLst/>
          </a:prstGeom>
        </p:spPr>
      </p:pic>
      <p:sp>
        <p:nvSpPr>
          <p:cNvPr id="12" name="Rectangle: Rounded Corners 11">
            <a:extLst>
              <a:ext uri="{FF2B5EF4-FFF2-40B4-BE49-F238E27FC236}">
                <a16:creationId xmlns:a16="http://schemas.microsoft.com/office/drawing/2014/main" id="{7C715D2A-6E3D-2844-03C3-578B33D1250E}"/>
              </a:ext>
            </a:extLst>
          </p:cNvPr>
          <p:cNvSpPr/>
          <p:nvPr/>
        </p:nvSpPr>
        <p:spPr>
          <a:xfrm>
            <a:off x="4208786" y="1184916"/>
            <a:ext cx="1401909" cy="80717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CA" sz="2400" b="1" dirty="0" smtClean="0">
                <a:solidFill>
                  <a:schemeClr val="bg1"/>
                </a:solidFill>
              </a:rPr>
              <a:t>3497</a:t>
            </a:r>
            <a:r>
              <a:rPr lang="en-CA" dirty="0" smtClean="0">
                <a:solidFill>
                  <a:schemeClr val="bg1"/>
                </a:solidFill>
              </a:rPr>
              <a:t> </a:t>
            </a:r>
            <a:r>
              <a:rPr lang="en-CA" sz="1600" dirty="0">
                <a:solidFill>
                  <a:schemeClr val="bg1"/>
                </a:solidFill>
              </a:rPr>
              <a:t>Total reviews</a:t>
            </a:r>
          </a:p>
          <a:p>
            <a:pPr algn="ctr"/>
            <a:r>
              <a:rPr lang="en-CA" sz="1600" dirty="0">
                <a:solidFill>
                  <a:schemeClr val="bg1"/>
                </a:solidFill>
              </a:rPr>
              <a:t>collected</a:t>
            </a:r>
          </a:p>
        </p:txBody>
      </p:sp>
      <p:pic>
        <p:nvPicPr>
          <p:cNvPr id="18" name="Picture 17">
            <a:extLst>
              <a:ext uri="{FF2B5EF4-FFF2-40B4-BE49-F238E27FC236}">
                <a16:creationId xmlns:a16="http://schemas.microsoft.com/office/drawing/2014/main" id="{6F135D80-7132-20D0-7F12-12B21B4CD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41110" y="1194562"/>
            <a:ext cx="2888169" cy="2501076"/>
          </a:xfrm>
          <a:prstGeom prst="rect">
            <a:avLst/>
          </a:prstGeom>
        </p:spPr>
      </p:pic>
      <p:sp>
        <p:nvSpPr>
          <p:cNvPr id="19" name="Content Placeholder 2">
            <a:extLst>
              <a:ext uri="{FF2B5EF4-FFF2-40B4-BE49-F238E27FC236}">
                <a16:creationId xmlns:a16="http://schemas.microsoft.com/office/drawing/2014/main" id="{1CC1F258-59E3-ABBB-FC11-2C674685DF70}"/>
              </a:ext>
            </a:extLst>
          </p:cNvPr>
          <p:cNvSpPr txBox="1">
            <a:spLocks/>
          </p:cNvSpPr>
          <p:nvPr/>
        </p:nvSpPr>
        <p:spPr>
          <a:xfrm>
            <a:off x="5669909" y="3324527"/>
            <a:ext cx="3248529" cy="2893807"/>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Identifying customer satisfaction and dissatisfaction across different rating </a:t>
            </a:r>
            <a:r>
              <a:rPr lang="en-US" sz="1400" dirty="0" smtClean="0"/>
              <a:t>classes:</a:t>
            </a:r>
            <a:endParaRPr lang="en-GB" sz="1400" dirty="0" smtClean="0"/>
          </a:p>
          <a:p>
            <a:pPr marL="171450" indent="-171450">
              <a:buFontTx/>
              <a:buChar char="-"/>
            </a:pPr>
            <a:r>
              <a:rPr lang="en-US" sz="1400" dirty="0" smtClean="0"/>
              <a:t>Ratings 7-10: </a:t>
            </a:r>
            <a:r>
              <a:rPr lang="en-US" sz="1200" dirty="0" smtClean="0"/>
              <a:t>Praised short-haul business, friendly crew, comfortable legroom, good inflight entertainment, and food.</a:t>
            </a:r>
          </a:p>
          <a:p>
            <a:pPr marL="171450" indent="-171450">
              <a:buFontTx/>
              <a:buChar char="-"/>
            </a:pPr>
            <a:r>
              <a:rPr lang="en-US" sz="1400" dirty="0" smtClean="0"/>
              <a:t>Ratings </a:t>
            </a:r>
            <a:r>
              <a:rPr lang="en-US" sz="1400" dirty="0"/>
              <a:t>4-6: </a:t>
            </a:r>
            <a:r>
              <a:rPr lang="en-US" sz="1200" dirty="0"/>
              <a:t>Experienced issues with small entertainment screens, long passport check queues, and </a:t>
            </a:r>
            <a:r>
              <a:rPr lang="en-US" sz="1200" dirty="0" smtClean="0"/>
              <a:t>poor </a:t>
            </a:r>
            <a:r>
              <a:rPr lang="en-US" sz="1200" dirty="0"/>
              <a:t>business class experience.</a:t>
            </a:r>
          </a:p>
          <a:p>
            <a:pPr marL="171450" indent="-171450">
              <a:buFontTx/>
              <a:buChar char="-"/>
            </a:pPr>
            <a:r>
              <a:rPr lang="en-US" sz="1400" dirty="0" smtClean="0"/>
              <a:t>Ratings </a:t>
            </a:r>
            <a:r>
              <a:rPr lang="en-US" sz="1400" dirty="0"/>
              <a:t>1-3: </a:t>
            </a:r>
            <a:r>
              <a:rPr lang="en-US" sz="1200" dirty="0"/>
              <a:t>Displeasure with congested middle seats and small screens, although they liked the seats and food.</a:t>
            </a:r>
            <a:endParaRPr lang="en-GB" sz="1200" dirty="0"/>
          </a:p>
        </p:txBody>
      </p:sp>
      <p:pic>
        <p:nvPicPr>
          <p:cNvPr id="21" name="Picture 20">
            <a:extLst>
              <a:ext uri="{FF2B5EF4-FFF2-40B4-BE49-F238E27FC236}">
                <a16:creationId xmlns:a16="http://schemas.microsoft.com/office/drawing/2014/main" id="{13636AE7-987C-F43C-F3A0-EBE2998581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07704" y="3915177"/>
            <a:ext cx="3021575" cy="2716204"/>
          </a:xfrm>
          <a:prstGeom prst="rect">
            <a:avLst/>
          </a:prstGeom>
        </p:spPr>
      </p:pic>
      <p:pic>
        <p:nvPicPr>
          <p:cNvPr id="17" name="Picture 16">
            <a:extLst>
              <a:ext uri="{FF2B5EF4-FFF2-40B4-BE49-F238E27FC236}">
                <a16:creationId xmlns:a16="http://schemas.microsoft.com/office/drawing/2014/main" id="{C177E000-7E24-DE83-7E07-C415108DA5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3636" y="2290956"/>
            <a:ext cx="5416204" cy="2974584"/>
          </a:xfrm>
          <a:prstGeom prst="rect">
            <a:avLst/>
          </a:prstGeom>
        </p:spPr>
      </p:pic>
      <p:sp>
        <p:nvSpPr>
          <p:cNvPr id="20" name="Content Placeholder 2">
            <a:extLst>
              <a:ext uri="{FF2B5EF4-FFF2-40B4-BE49-F238E27FC236}">
                <a16:creationId xmlns:a16="http://schemas.microsoft.com/office/drawing/2014/main" id="{F982B97B-A940-5016-BA5F-A9A5A4B44DC0}"/>
              </a:ext>
            </a:extLst>
          </p:cNvPr>
          <p:cNvSpPr txBox="1">
            <a:spLocks/>
          </p:cNvSpPr>
          <p:nvPr/>
        </p:nvSpPr>
        <p:spPr>
          <a:xfrm>
            <a:off x="322672" y="5273279"/>
            <a:ext cx="5277168" cy="1352529"/>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Customers praised cabin crew, seats, and food universally. Business class is popular. Key topics are "service," "seat," and "food," highlighting their importance. To enhance satisfaction, focus on Economy class service, seats, inflight entertainment, and address delays. Improve the Business class experience for better value. Prioritize customer service on refund requests.</a:t>
            </a:r>
            <a:endParaRPr lang="en-GB" sz="1200" dirty="0"/>
          </a:p>
        </p:txBody>
      </p:sp>
    </p:spTree>
    <p:extLst>
      <p:ext uri="{BB962C8B-B14F-4D97-AF65-F5344CB8AC3E}">
        <p14:creationId xmlns:p14="http://schemas.microsoft.com/office/powerpoint/2010/main" val="25391963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C9EE2-AB7B-7C0C-1FC8-20E35CF4B6CB}"/>
              </a:ext>
            </a:extLst>
          </p:cNvPr>
          <p:cNvSpPr>
            <a:spLocks noGrp="1"/>
          </p:cNvSpPr>
          <p:nvPr>
            <p:ph type="title"/>
          </p:nvPr>
        </p:nvSpPr>
        <p:spPr/>
        <p:txBody>
          <a:bodyPr/>
          <a:lstStyle/>
          <a:p>
            <a:r>
              <a:rPr lang="en-GB" dirty="0"/>
              <a:t>Key metrics	</a:t>
            </a:r>
          </a:p>
        </p:txBody>
      </p:sp>
      <p:pic>
        <p:nvPicPr>
          <p:cNvPr id="11" name="Picture 10">
            <a:extLst>
              <a:ext uri="{FF2B5EF4-FFF2-40B4-BE49-F238E27FC236}">
                <a16:creationId xmlns:a16="http://schemas.microsoft.com/office/drawing/2014/main" id="{233A643E-AB0A-33A1-DFEF-A47873E03B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3941" y="1194562"/>
            <a:ext cx="5830044" cy="3834638"/>
          </a:xfrm>
          <a:prstGeom prst="rect">
            <a:avLst/>
          </a:prstGeom>
        </p:spPr>
      </p:pic>
      <p:sp>
        <p:nvSpPr>
          <p:cNvPr id="19" name="Content Placeholder 2">
            <a:extLst>
              <a:ext uri="{FF2B5EF4-FFF2-40B4-BE49-F238E27FC236}">
                <a16:creationId xmlns:a16="http://schemas.microsoft.com/office/drawing/2014/main" id="{1CC1F258-59E3-ABBB-FC11-2C674685DF70}"/>
              </a:ext>
            </a:extLst>
          </p:cNvPr>
          <p:cNvSpPr txBox="1">
            <a:spLocks/>
          </p:cNvSpPr>
          <p:nvPr/>
        </p:nvSpPr>
        <p:spPr>
          <a:xfrm>
            <a:off x="6241181" y="5163671"/>
            <a:ext cx="5572804" cy="793836"/>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dirty="0"/>
              <a:t>Booking a flight can pose challenges, but Malaysia stands out as the country with the highest completion rate of flight applications, closely followed by Australia, China, and others.</a:t>
            </a:r>
            <a:endParaRPr lang="en-GB" sz="1200" dirty="0"/>
          </a:p>
        </p:txBody>
      </p:sp>
      <p:pic>
        <p:nvPicPr>
          <p:cNvPr id="17" name="Picture 16">
            <a:extLst>
              <a:ext uri="{FF2B5EF4-FFF2-40B4-BE49-F238E27FC236}">
                <a16:creationId xmlns:a16="http://schemas.microsoft.com/office/drawing/2014/main" id="{C177E000-7E24-DE83-7E07-C415108DA5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1194562"/>
            <a:ext cx="5599840" cy="1998095"/>
          </a:xfrm>
          <a:prstGeom prst="rect">
            <a:avLst/>
          </a:prstGeom>
        </p:spPr>
      </p:pic>
      <p:sp>
        <p:nvSpPr>
          <p:cNvPr id="20" name="Content Placeholder 2">
            <a:extLst>
              <a:ext uri="{FF2B5EF4-FFF2-40B4-BE49-F238E27FC236}">
                <a16:creationId xmlns:a16="http://schemas.microsoft.com/office/drawing/2014/main" id="{F982B97B-A940-5016-BA5F-A9A5A4B44DC0}"/>
              </a:ext>
            </a:extLst>
          </p:cNvPr>
          <p:cNvSpPr txBox="1">
            <a:spLocks/>
          </p:cNvSpPr>
          <p:nvPr/>
        </p:nvSpPr>
        <p:spPr>
          <a:xfrm>
            <a:off x="161336" y="3175170"/>
            <a:ext cx="5277168" cy="478453"/>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British Airways receives the highest average ratings, starting with Indonesia, followed by Jordan and Panama, all rating the airline 10</a:t>
            </a:r>
            <a:r>
              <a:rPr lang="en-US" sz="1200" dirty="0" smtClean="0"/>
              <a:t>.</a:t>
            </a:r>
            <a:endParaRPr lang="en-GB" sz="1200" dirty="0"/>
          </a:p>
        </p:txBody>
      </p:sp>
      <p:pic>
        <p:nvPicPr>
          <p:cNvPr id="14" name="Picture 13">
            <a:extLst>
              <a:ext uri="{FF2B5EF4-FFF2-40B4-BE49-F238E27FC236}">
                <a16:creationId xmlns:a16="http://schemas.microsoft.com/office/drawing/2014/main" id="{C177E000-7E24-DE83-7E07-C415108DA5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16" y="3717365"/>
            <a:ext cx="5277168" cy="1998095"/>
          </a:xfrm>
          <a:prstGeom prst="rect">
            <a:avLst/>
          </a:prstGeom>
        </p:spPr>
      </p:pic>
      <p:sp>
        <p:nvSpPr>
          <p:cNvPr id="15" name="Content Placeholder 2">
            <a:extLst>
              <a:ext uri="{FF2B5EF4-FFF2-40B4-BE49-F238E27FC236}">
                <a16:creationId xmlns:a16="http://schemas.microsoft.com/office/drawing/2014/main" id="{F982B97B-A940-5016-BA5F-A9A5A4B44DC0}"/>
              </a:ext>
            </a:extLst>
          </p:cNvPr>
          <p:cNvSpPr txBox="1">
            <a:spLocks/>
          </p:cNvSpPr>
          <p:nvPr/>
        </p:nvSpPr>
        <p:spPr>
          <a:xfrm>
            <a:off x="161336" y="5831711"/>
            <a:ext cx="5277168" cy="478453"/>
          </a:xfrm>
          <a:prstGeom prst="rect">
            <a:avLst/>
          </a:prstGeom>
        </p:spPr>
        <p:txBody>
          <a:bodyPr>
            <a:noAutofit/>
          </a:bodyPr>
          <a:lstStyle>
            <a:lvl1pPr marL="0" indent="0" algn="l" defTabSz="914400" rtl="0" eaLnBrk="1" latinLnBrk="0" hangingPunct="1">
              <a:lnSpc>
                <a:spcPct val="100000"/>
              </a:lnSpc>
              <a:spcBef>
                <a:spcPts val="1000"/>
              </a:spcBef>
              <a:buFont typeface="Arial" panose="020B0604020202020204" pitchFamily="34" charset="0"/>
              <a:buNone/>
              <a:defRPr sz="1600" b="1" i="0" kern="1200">
                <a:solidFill>
                  <a:srgbClr val="0B5574"/>
                </a:solidFill>
                <a:latin typeface="Mylius Modern" panose="020B0504020202020204" pitchFamily="34" charset="0"/>
                <a:ea typeface="+mn-ea"/>
                <a:cs typeface="+mn-cs"/>
              </a:defRPr>
            </a:lvl1pPr>
            <a:lvl2pPr marL="7938" indent="0" algn="l" defTabSz="914400" rtl="0" eaLnBrk="1" latinLnBrk="0" hangingPunct="1">
              <a:lnSpc>
                <a:spcPct val="150000"/>
              </a:lnSpc>
              <a:spcBef>
                <a:spcPts val="500"/>
              </a:spcBef>
              <a:buFont typeface="Arial" panose="020B0604020202020204" pitchFamily="34" charset="0"/>
              <a:buNone/>
              <a:tabLst/>
              <a:defRPr sz="1400" b="0" i="0" kern="1200">
                <a:solidFill>
                  <a:srgbClr val="0B5574"/>
                </a:solidFill>
                <a:latin typeface="Mylius Modern" panose="020B0504020202020204" pitchFamily="34" charset="0"/>
                <a:ea typeface="+mn-ea"/>
                <a:cs typeface="+mn-cs"/>
              </a:defRPr>
            </a:lvl2pPr>
            <a:lvl3pPr marL="447675" indent="-188913" algn="l" defTabSz="914400" rtl="0" eaLnBrk="1" latinLnBrk="0" hangingPunct="1">
              <a:lnSpc>
                <a:spcPct val="150000"/>
              </a:lnSpc>
              <a:spcBef>
                <a:spcPts val="500"/>
              </a:spcBef>
              <a:buFont typeface="Arial" panose="020B0604020202020204" pitchFamily="34" charset="0"/>
              <a:buChar char="•"/>
              <a:tabLst/>
              <a:defRPr sz="1200" b="0" i="0" kern="1200">
                <a:solidFill>
                  <a:srgbClr val="0B5574"/>
                </a:solidFill>
                <a:latin typeface="Mylius Modern" panose="020B0504020202020204" pitchFamily="34" charset="0"/>
                <a:ea typeface="+mn-ea"/>
                <a:cs typeface="+mn-cs"/>
              </a:defRPr>
            </a:lvl3pPr>
            <a:lvl4pPr marL="715963"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4pPr>
            <a:lvl5pPr marL="984250" indent="-233363" algn="l" defTabSz="914400" rtl="0" eaLnBrk="1" latinLnBrk="0" hangingPunct="1">
              <a:lnSpc>
                <a:spcPct val="150000"/>
              </a:lnSpc>
              <a:spcBef>
                <a:spcPts val="500"/>
              </a:spcBef>
              <a:buFont typeface="Arial" panose="020B0604020202020204" pitchFamily="34" charset="0"/>
              <a:buChar char="•"/>
              <a:tabLst/>
              <a:defRPr sz="1100" b="0" i="0" kern="1200">
                <a:solidFill>
                  <a:srgbClr val="0B5574"/>
                </a:solidFill>
                <a:latin typeface="Mylius Modern" panose="020B05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t>The booking application is most popular in Australia, followed by Malaysia and South Korea, with other countries following suit.</a:t>
            </a:r>
            <a:endParaRPr lang="en-GB" sz="1200" dirty="0"/>
          </a:p>
        </p:txBody>
      </p:sp>
    </p:spTree>
    <p:extLst>
      <p:ext uri="{BB962C8B-B14F-4D97-AF65-F5344CB8AC3E}">
        <p14:creationId xmlns:p14="http://schemas.microsoft.com/office/powerpoint/2010/main" val="4003209715"/>
      </p:ext>
    </p:extLst>
  </p:cSld>
  <p:clrMapOvr>
    <a:masterClrMapping/>
  </p:clrMapOvr>
</p:sld>
</file>

<file path=ppt/theme/theme1.xml><?xml version="1.0" encoding="utf-8"?>
<a:theme xmlns:a="http://schemas.openxmlformats.org/drawingml/2006/main" name="Section Heading">
  <a:themeElements>
    <a:clrScheme name="British Originals Theme">
      <a:dk1>
        <a:srgbClr val="000000"/>
      </a:dk1>
      <a:lt1>
        <a:srgbClr val="FFFFFF"/>
      </a:lt1>
      <a:dk2>
        <a:srgbClr val="44546A"/>
      </a:dk2>
      <a:lt2>
        <a:srgbClr val="E7E6E6"/>
      </a:lt2>
      <a:accent1>
        <a:srgbClr val="0B5574"/>
      </a:accent1>
      <a:accent2>
        <a:srgbClr val="BCCFEC"/>
      </a:accent2>
      <a:accent3>
        <a:srgbClr val="E37874"/>
      </a:accent3>
      <a:accent4>
        <a:srgbClr val="ADD1D7"/>
      </a:accent4>
      <a:accent5>
        <a:srgbClr val="BEB3B2"/>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 Better BA TD&amp;I internal ppt template" id="{D89623FF-54E7-4C51-A973-6231368CD68D}" vid="{3C29D505-96C1-4D86-8FE8-F692CDCBF9EA}"/>
    </a:ext>
  </a:extLst>
</a:theme>
</file>

<file path=ppt/theme/theme2.xml><?xml version="1.0" encoding="utf-8"?>
<a:theme xmlns:a="http://schemas.openxmlformats.org/drawingml/2006/main" name="Slide Body - Curious Blue (ABBA)">
  <a:themeElements>
    <a:clrScheme name="A BETTER BA">
      <a:dk1>
        <a:srgbClr val="0B5574"/>
      </a:dk1>
      <a:lt1>
        <a:srgbClr val="F6F6F6"/>
      </a:lt1>
      <a:dk2>
        <a:srgbClr val="BEB3B2"/>
      </a:dk2>
      <a:lt2>
        <a:srgbClr val="FFFFFF"/>
      </a:lt2>
      <a:accent1>
        <a:srgbClr val="ADD1D7"/>
      </a:accent1>
      <a:accent2>
        <a:srgbClr val="BCCFEC"/>
      </a:accent2>
      <a:accent3>
        <a:srgbClr val="E37874"/>
      </a:accent3>
      <a:accent4>
        <a:srgbClr val="ADD1D7"/>
      </a:accent4>
      <a:accent5>
        <a:srgbClr val="BEB3B2"/>
      </a:accent5>
      <a:accent6>
        <a:srgbClr val="A3D2D8"/>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 Better BA TD&amp;I internal ppt template" id="{D89623FF-54E7-4C51-A973-6231368CD68D}" vid="{97BF301D-186A-4A22-8E4C-E1F994A4840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haredWithUsers xmlns="81b85e46-be1c-4d4d-af3f-3ff4749bae08">
      <UserInfo>
        <DisplayName>Sarah Barr Miller</DisplayName>
        <AccountId>10</AccountId>
        <AccountType/>
      </UserInfo>
      <UserInfo>
        <DisplayName>Sandra Green</DisplayName>
        <AccountId>41</AccountId>
        <AccountType/>
      </UserInfo>
      <UserInfo>
        <DisplayName>Hazel Chesters</DisplayName>
        <AccountId>42</AccountId>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2594255C9F47049B367F00913BED969" ma:contentTypeVersion="8" ma:contentTypeDescription="Create a new document." ma:contentTypeScope="" ma:versionID="669976127e9d99054ee2095d187ec24b">
  <xsd:schema xmlns:xsd="http://www.w3.org/2001/XMLSchema" xmlns:xs="http://www.w3.org/2001/XMLSchema" xmlns:p="http://schemas.microsoft.com/office/2006/metadata/properties" xmlns:ns2="86177072-acf3-469b-be5f-1201de6410bb" xmlns:ns3="81b85e46-be1c-4d4d-af3f-3ff4749bae08" targetNamespace="http://schemas.microsoft.com/office/2006/metadata/properties" ma:root="true" ma:fieldsID="480bda1865dbc1f7ead824dac06b125f" ns2:_="" ns3:_="">
    <xsd:import namespace="86177072-acf3-469b-be5f-1201de6410bb"/>
    <xsd:import namespace="81b85e46-be1c-4d4d-af3f-3ff4749bae0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MediaServiceDateTaken"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177072-acf3-469b-be5f-1201de6410b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1b85e46-be1c-4d4d-af3f-3ff4749bae08"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73D82A4-28C2-4B97-A470-A3247BBF4BEB}">
  <ds:schemaRefs>
    <ds:schemaRef ds:uri="http://schemas.microsoft.com/sharepoint/v3/contenttype/forms"/>
  </ds:schemaRefs>
</ds:datastoreItem>
</file>

<file path=customXml/itemProps2.xml><?xml version="1.0" encoding="utf-8"?>
<ds:datastoreItem xmlns:ds="http://schemas.openxmlformats.org/officeDocument/2006/customXml" ds:itemID="{FA0A2C6C-ACEB-4D76-A29E-B1C9FEC52B8B}">
  <ds:schemaRefs>
    <ds:schemaRef ds:uri="http://schemas.microsoft.com/office/2006/documentManagement/types"/>
    <ds:schemaRef ds:uri="http://schemas.microsoft.com/office/2006/metadata/properties"/>
    <ds:schemaRef ds:uri="http://www.w3.org/XML/1998/namespace"/>
    <ds:schemaRef ds:uri="http://purl.org/dc/dcmitype/"/>
    <ds:schemaRef ds:uri="http://purl.org/dc/terms/"/>
    <ds:schemaRef ds:uri="81b85e46-be1c-4d4d-af3f-3ff4749bae08"/>
    <ds:schemaRef ds:uri="http://schemas.microsoft.com/office/infopath/2007/PartnerControls"/>
    <ds:schemaRef ds:uri="http://schemas.openxmlformats.org/package/2006/metadata/core-properties"/>
    <ds:schemaRef ds:uri="86177072-acf3-469b-be5f-1201de6410bb"/>
    <ds:schemaRef ds:uri="http://purl.org/dc/elements/1.1/"/>
  </ds:schemaRefs>
</ds:datastoreItem>
</file>

<file path=customXml/itemProps3.xml><?xml version="1.0" encoding="utf-8"?>
<ds:datastoreItem xmlns:ds="http://schemas.openxmlformats.org/officeDocument/2006/customXml" ds:itemID="{751A6194-F0BD-4282-83C9-95DFBAD1B667}">
  <ds:schemaRefs>
    <ds:schemaRef ds:uri="81b85e46-be1c-4d4d-af3f-3ff4749bae08"/>
    <ds:schemaRef ds:uri="86177072-acf3-469b-be5f-1201de6410b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1562</TotalTime>
  <Words>327</Words>
  <Application>Microsoft Office PowerPoint</Application>
  <PresentationFormat>Widescreen</PresentationFormat>
  <Paragraphs>25</Paragraphs>
  <Slides>3</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vt:i4>
      </vt:variant>
    </vt:vector>
  </HeadingPairs>
  <TitlesOfParts>
    <vt:vector size="8" baseType="lpstr">
      <vt:lpstr>Arial</vt:lpstr>
      <vt:lpstr>Calibri</vt:lpstr>
      <vt:lpstr>Mylius Modern</vt:lpstr>
      <vt:lpstr>Section Heading</vt:lpstr>
      <vt:lpstr>Slide Body - Curious Blue (ABBA)</vt:lpstr>
      <vt:lpstr>British Airways</vt:lpstr>
      <vt:lpstr>Key metrics </vt:lpstr>
      <vt:lpstr>Key metrics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GDP Data Access Controls</dc:title>
  <dc:subject/>
  <dc:creator>Jake Pearce</dc:creator>
  <cp:keywords/>
  <dc:description/>
  <cp:lastModifiedBy>Jasper</cp:lastModifiedBy>
  <cp:revision>31</cp:revision>
  <cp:lastPrinted>2022-06-09T07:44:13Z</cp:lastPrinted>
  <dcterms:created xsi:type="dcterms:W3CDTF">2022-02-22T07:39:05Z</dcterms:created>
  <dcterms:modified xsi:type="dcterms:W3CDTF">2023-12-09T23:31:49Z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0x01010082594255C9F47049B367F00913BED969</vt:lpwstr>
  </property>
</Properties>
</file>