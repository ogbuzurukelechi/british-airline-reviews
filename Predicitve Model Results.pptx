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 id="2147483696" r:id="rId5"/>
  </p:sldMasterIdLst>
  <p:notesMasterIdLst>
    <p:notesMasterId r:id="rId8"/>
  </p:notesMasterIdLst>
  <p:handoutMasterIdLst>
    <p:handoutMasterId r:id="rId9"/>
  </p:handoutMasterIdLst>
  <p:sldIdLst>
    <p:sldId id="256" r:id="rId6"/>
    <p:sldId id="257" r:id="rId7"/>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020B0D-6F11-480E-6D5B-1C8B4C4D5B13}" name="Susan Robinson" initials="SR" userId="S::susan.robinson@ba.com::bd9a80f1-9417-4c5f-a51c-c43c10bbe4ea" providerId="AD"/>
  <p188:author id="{0DB60536-BDA6-B3E9-DDC1-435976C94759}" name="Sandra Green" initials="SG" userId="S::sandra.green@ba.com::2185cfad-8141-4ae4-81aa-22841564645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usan Robinson" initials="SR" lastIdx="1" clrIdx="0">
    <p:extLst>
      <p:ext uri="{19B8F6BF-5375-455C-9EA6-DF929625EA0E}">
        <p15:presenceInfo xmlns:p15="http://schemas.microsoft.com/office/powerpoint/2012/main" userId="S::susan.robinson@ba.com::bd9a80f1-9417-4c5f-a51c-c43c10bbe4e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5574"/>
    <a:srgbClr val="BCCFEC"/>
    <a:srgbClr val="ADD1D7"/>
    <a:srgbClr val="F6F6F6"/>
    <a:srgbClr val="E47874"/>
    <a:srgbClr val="BEB3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552" y="7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FD8FC5-53C5-1443-9915-3AD6E5146F57}"/>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37BDE66-419A-C942-BD40-DBE6EF0834F5}"/>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26BC3862-9A0E-8D45-8851-D3D1E9E79E35}" type="datetimeFigureOut">
              <a:rPr lang="en-GB" smtClean="0"/>
              <a:t>10/12/2023</a:t>
            </a:fld>
            <a:endParaRPr lang="en-GB"/>
          </a:p>
        </p:txBody>
      </p:sp>
      <p:sp>
        <p:nvSpPr>
          <p:cNvPr id="4" name="Footer Placeholder 3">
            <a:extLst>
              <a:ext uri="{FF2B5EF4-FFF2-40B4-BE49-F238E27FC236}">
                <a16:creationId xmlns:a16="http://schemas.microsoft.com/office/drawing/2014/main" id="{C5C5892D-D1DF-524A-995F-C2AC70EDDB07}"/>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F487BF9-7D54-9542-A137-65D3B7AB84FE}"/>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9389D33C-CC47-D941-BA46-9DC756C74826}" type="slidenum">
              <a:rPr lang="en-GB" smtClean="0"/>
              <a:t>‹#›</a:t>
            </a:fld>
            <a:endParaRPr lang="en-GB"/>
          </a:p>
        </p:txBody>
      </p:sp>
    </p:spTree>
    <p:extLst>
      <p:ext uri="{BB962C8B-B14F-4D97-AF65-F5344CB8AC3E}">
        <p14:creationId xmlns:p14="http://schemas.microsoft.com/office/powerpoint/2010/main" val="29607356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6F219FAC-6822-5D45-B6D7-159040EBDA1D}" type="datetimeFigureOut">
              <a:rPr lang="en-US" smtClean="0"/>
              <a:t>12/10/2023</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70E1B22-2DBE-1B42-9AD7-8EA3C1BAF1FD}" type="slidenum">
              <a:rPr lang="en-US" smtClean="0"/>
              <a:t>‹#›</a:t>
            </a:fld>
            <a:endParaRPr lang="en-US"/>
          </a:p>
        </p:txBody>
      </p:sp>
    </p:spTree>
    <p:extLst>
      <p:ext uri="{BB962C8B-B14F-4D97-AF65-F5344CB8AC3E}">
        <p14:creationId xmlns:p14="http://schemas.microsoft.com/office/powerpoint/2010/main" val="354349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ABBA Confident Blue)">
    <p:bg>
      <p:bgPr>
        <a:solidFill>
          <a:srgbClr val="0B5574"/>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B57CF7-57C6-0A40-B1F2-2B6C75EAF4C1}"/>
              </a:ext>
            </a:extLst>
          </p:cNvPr>
          <p:cNvSpPr/>
          <p:nvPr userDrawn="1"/>
        </p:nvSpPr>
        <p:spPr>
          <a:xfrm>
            <a:off x="0" y="0"/>
            <a:ext cx="12192000" cy="6858000"/>
          </a:xfrm>
          <a:prstGeom prst="rect">
            <a:avLst/>
          </a:prstGeom>
          <a:gradFill>
            <a:gsLst>
              <a:gs pos="0">
                <a:schemeClr val="accent1">
                  <a:lumMod val="5000"/>
                  <a:lumOff val="95000"/>
                  <a:alpha val="14550"/>
                </a:schemeClr>
              </a:gs>
              <a:gs pos="100000">
                <a:schemeClr val="bg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29C2A4-908C-CC4D-886F-D63CEFE6C99E}"/>
              </a:ext>
            </a:extLst>
          </p:cNvPr>
          <p:cNvSpPr>
            <a:spLocks noGrp="1"/>
          </p:cNvSpPr>
          <p:nvPr>
            <p:ph type="ctrTitle" hasCustomPrompt="1"/>
          </p:nvPr>
        </p:nvSpPr>
        <p:spPr>
          <a:xfrm>
            <a:off x="2781300" y="2619351"/>
            <a:ext cx="6629400" cy="2387600"/>
          </a:xfrm>
        </p:spPr>
        <p:txBody>
          <a:bodyPr anchor="ctr">
            <a:normAutofit/>
          </a:bodyPr>
          <a:lstStyle>
            <a:lvl1pPr algn="ctr">
              <a:defRPr sz="4800" cap="all" baseline="0">
                <a:ln w="22225">
                  <a:solidFill>
                    <a:schemeClr val="tx1"/>
                  </a:solidFill>
                </a:ln>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ADEFAB31-5DD6-FF49-8ADF-E3D5407890D0}"/>
              </a:ext>
            </a:extLst>
          </p:cNvPr>
          <p:cNvSpPr>
            <a:spLocks noGrp="1"/>
          </p:cNvSpPr>
          <p:nvPr>
            <p:ph type="subTitle" idx="1" hasCustomPrompt="1"/>
          </p:nvPr>
        </p:nvSpPr>
        <p:spPr>
          <a:xfrm>
            <a:off x="1524000" y="5264622"/>
            <a:ext cx="9144000" cy="870483"/>
          </a:xfrm>
        </p:spPr>
        <p:txBody>
          <a:bodyPr anchor="ctr">
            <a:normAutofit/>
          </a:bodyPr>
          <a:lstStyle>
            <a:lvl1pPr marL="0" indent="0" algn="ctr">
              <a:buNone/>
              <a:defRPr sz="1600" cap="all" spc="3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pic>
        <p:nvPicPr>
          <p:cNvPr id="8" name="Picture 7" descr="Shape, rectangle&#10;&#10;Description automatically generated">
            <a:extLst>
              <a:ext uri="{FF2B5EF4-FFF2-40B4-BE49-F238E27FC236}">
                <a16:creationId xmlns:a16="http://schemas.microsoft.com/office/drawing/2014/main" id="{A27A5A19-5A06-0542-ACEE-E9C0FD0BF1AD}"/>
              </a:ext>
            </a:extLst>
          </p:cNvPr>
          <p:cNvPicPr>
            <a:picLocks noChangeAspect="1"/>
          </p:cNvPicPr>
          <p:nvPr userDrawn="1"/>
        </p:nvPicPr>
        <p:blipFill>
          <a:blip r:embed="rId2"/>
          <a:stretch>
            <a:fillRect/>
          </a:stretch>
        </p:blipFill>
        <p:spPr>
          <a:xfrm>
            <a:off x="5293068" y="858819"/>
            <a:ext cx="1605864" cy="399469"/>
          </a:xfrm>
          <a:prstGeom prst="rect">
            <a:avLst/>
          </a:prstGeom>
        </p:spPr>
      </p:pic>
      <p:sp>
        <p:nvSpPr>
          <p:cNvPr id="9" name="Text Placeholder 19">
            <a:extLst>
              <a:ext uri="{FF2B5EF4-FFF2-40B4-BE49-F238E27FC236}">
                <a16:creationId xmlns:a16="http://schemas.microsoft.com/office/drawing/2014/main" id="{27C31EAC-3710-F943-BE5E-2D615FF5BC7A}"/>
              </a:ext>
            </a:extLst>
          </p:cNvPr>
          <p:cNvSpPr>
            <a:spLocks noGrp="1"/>
          </p:cNvSpPr>
          <p:nvPr>
            <p:ph type="body" sz="quarter" idx="10"/>
          </p:nvPr>
        </p:nvSpPr>
        <p:spPr>
          <a:xfrm>
            <a:off x="1524000" y="6230124"/>
            <a:ext cx="9144000" cy="275781"/>
          </a:xfrm>
        </p:spPr>
        <p:txBody>
          <a:bodyPr anchor="ctr">
            <a:spAutoFit/>
          </a:bodyPr>
          <a:lstStyle>
            <a:lvl1pPr marL="0" indent="0" algn="ctr">
              <a:buNone/>
              <a:defRPr sz="900" spc="150" baseline="0">
                <a:solidFill>
                  <a:schemeClr val="tx1"/>
                </a:solidFill>
              </a:defRPr>
            </a:lvl1pPr>
          </a:lstStyle>
          <a:p>
            <a:pPr lvl="0"/>
            <a:r>
              <a:rPr lang="en-GB" dirty="0"/>
              <a:t>Click to edit Master text styles</a:t>
            </a:r>
          </a:p>
        </p:txBody>
      </p:sp>
      <p:sp>
        <p:nvSpPr>
          <p:cNvPr id="5" name="Text Placeholder 19">
            <a:extLst>
              <a:ext uri="{FF2B5EF4-FFF2-40B4-BE49-F238E27FC236}">
                <a16:creationId xmlns:a16="http://schemas.microsoft.com/office/drawing/2014/main" id="{C6B38141-EC7F-BEE3-92F4-3D7770E58821}"/>
              </a:ext>
            </a:extLst>
          </p:cNvPr>
          <p:cNvSpPr>
            <a:spLocks noGrp="1"/>
          </p:cNvSpPr>
          <p:nvPr>
            <p:ph type="body" sz="quarter" idx="11" hasCustomPrompt="1"/>
          </p:nvPr>
        </p:nvSpPr>
        <p:spPr>
          <a:xfrm>
            <a:off x="1338470" y="291519"/>
            <a:ext cx="9144000" cy="275781"/>
          </a:xfrm>
        </p:spPr>
        <p:txBody>
          <a:bodyPr anchor="ctr">
            <a:spAutoFit/>
          </a:bodyPr>
          <a:lstStyle>
            <a:lvl1pPr marL="0" indent="0" algn="ctr">
              <a:buNone/>
              <a:defRPr sz="1100" spc="150" baseline="0">
                <a:solidFill>
                  <a:schemeClr val="tx1"/>
                </a:solidFill>
              </a:defRPr>
            </a:lvl1pPr>
          </a:lstStyle>
          <a:p>
            <a:pPr lvl="0"/>
            <a:r>
              <a:rPr lang="en-GB" dirty="0"/>
              <a:t>FOR PURPOSES OF FORAGE VIRTUAL WORK EXPERIENCE PROGRAM</a:t>
            </a:r>
          </a:p>
        </p:txBody>
      </p:sp>
    </p:spTree>
    <p:extLst>
      <p:ext uri="{BB962C8B-B14F-4D97-AF65-F5344CB8AC3E}">
        <p14:creationId xmlns:p14="http://schemas.microsoft.com/office/powerpoint/2010/main" val="333761645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B0E61-84B1-4AFC-B45F-6282A9D900C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BE29384-1523-4337-B839-96FA617ED957}"/>
              </a:ext>
            </a:extLst>
          </p:cNvPr>
          <p:cNvSpPr>
            <a:spLocks noGrp="1"/>
          </p:cNvSpPr>
          <p:nvPr>
            <p:ph type="dt" sz="half" idx="10"/>
          </p:nvPr>
        </p:nvSpPr>
        <p:spPr/>
        <p:txBody>
          <a:bodyPr/>
          <a:lstStyle/>
          <a:p>
            <a:fld id="{0CBD1D9E-D27F-4554-BE6E-550908FE1FBE}" type="datetime1">
              <a:rPr lang="en-GB" smtClean="0"/>
              <a:pPr/>
              <a:t>10/12/2023</a:t>
            </a:fld>
            <a:endParaRPr lang="en-GB"/>
          </a:p>
        </p:txBody>
      </p:sp>
      <p:sp>
        <p:nvSpPr>
          <p:cNvPr id="4" name="Content Placeholder 2">
            <a:extLst>
              <a:ext uri="{FF2B5EF4-FFF2-40B4-BE49-F238E27FC236}">
                <a16:creationId xmlns:a16="http://schemas.microsoft.com/office/drawing/2014/main" id="{2B9385B3-85E9-4023-BC4A-ADA40024170A}"/>
              </a:ext>
            </a:extLst>
          </p:cNvPr>
          <p:cNvSpPr>
            <a:spLocks noGrp="1"/>
          </p:cNvSpPr>
          <p:nvPr>
            <p:ph idx="11" hasCustomPrompt="1"/>
          </p:nvPr>
        </p:nvSpPr>
        <p:spPr>
          <a:xfrm>
            <a:off x="447675" y="1676401"/>
            <a:ext cx="10749412" cy="4429124"/>
          </a:xfrm>
          <a:prstGeom prst="rect">
            <a:avLst/>
          </a:prstGeom>
        </p:spPr>
        <p:txBody>
          <a:bodyPr/>
          <a:lstStyle>
            <a:lvl1pPr marL="0" indent="0">
              <a:lnSpc>
                <a:spcPct val="100000"/>
              </a:lnSpc>
              <a:buNone/>
              <a:defRPr sz="1600" b="1"/>
            </a:lvl1pPr>
            <a:lvl2pPr marL="7938" indent="0">
              <a:buNone/>
              <a:tabLst/>
              <a:defRPr sz="1400"/>
            </a:lvl2pPr>
            <a:lvl3pPr marL="447675" indent="-188913">
              <a:tabLst/>
              <a:defRPr sz="1200"/>
            </a:lvl3pPr>
            <a:lvl4pPr marL="715963" indent="-233363">
              <a:tabLst/>
              <a:defRPr sz="1100"/>
            </a:lvl4pPr>
            <a:lvl5pPr marL="984250" indent="-233363">
              <a:tabLst/>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86901143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47874"/>
        </a:solid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A0E0B4F7-25A6-07E6-ABB4-145D294D87B4}"/>
              </a:ext>
            </a:extLst>
          </p:cNvPr>
          <p:cNvSpPr txBox="1">
            <a:spLocks/>
          </p:cNvSpPr>
          <p:nvPr userDrawn="1"/>
        </p:nvSpPr>
        <p:spPr>
          <a:xfrm>
            <a:off x="1338470" y="291519"/>
            <a:ext cx="9144000" cy="275781"/>
          </a:xfrm>
        </p:spPr>
        <p:txBody>
          <a:bodyPr anchor="ctr">
            <a:spAutoFit/>
          </a:bodyPr>
          <a:lstStyle>
            <a:lvl1pPr marL="0" indent="0" algn="ctr" defTabSz="914400" rtl="0" eaLnBrk="1" latinLnBrk="0" hangingPunct="1">
              <a:lnSpc>
                <a:spcPct val="150000"/>
              </a:lnSpc>
              <a:spcBef>
                <a:spcPts val="1000"/>
              </a:spcBef>
              <a:buFont typeface="Arial" panose="020B0604020202020204" pitchFamily="34" charset="0"/>
              <a:buNone/>
              <a:defRPr sz="1100" b="0" i="0" kern="1200" spc="150" baseline="0">
                <a:solidFill>
                  <a:schemeClr val="tx1"/>
                </a:solidFill>
                <a:latin typeface="Mylius Modern" panose="020B05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bg1"/>
                </a:solidFill>
                <a:latin typeface="Mylius Modern" panose="020B05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chemeClr val="bg1"/>
                </a:solidFill>
                <a:latin typeface="Mylius Modern" panose="020B05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bg1"/>
                </a:solidFill>
                <a:latin typeface="Mylius Modern" panose="020B05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bg1"/>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FOR PURPOSES OF FORAGE VIRTUAL WORK EXPERIENCE PROGRAM</a:t>
            </a:r>
          </a:p>
        </p:txBody>
      </p:sp>
    </p:spTree>
    <p:extLst>
      <p:ext uri="{BB962C8B-B14F-4D97-AF65-F5344CB8AC3E}">
        <p14:creationId xmlns:p14="http://schemas.microsoft.com/office/powerpoint/2010/main" val="1059433018"/>
      </p:ext>
    </p:extLst>
  </p:cSld>
  <p:clrMap bg1="lt1" tx1="dk1" bg2="lt2" tx2="dk2" accent1="accent1" accent2="accent2" accent3="accent3" accent4="accent4" accent5="accent5" accent6="accent6" hlink="hlink" folHlink="folHlink"/>
  <p:sldLayoutIdLst>
    <p:sldLayoutId id="2147483887" r:id="rId1"/>
  </p:sldLayoutIdLst>
  <p:txStyles>
    <p:titleStyle>
      <a:lvl1pPr algn="ctr" defTabSz="914400" rtl="0" eaLnBrk="1" latinLnBrk="0" hangingPunct="1">
        <a:lnSpc>
          <a:spcPct val="90000"/>
        </a:lnSpc>
        <a:spcBef>
          <a:spcPct val="0"/>
        </a:spcBef>
        <a:buNone/>
        <a:defRPr sz="4400" b="1" i="0" kern="1200" spc="600">
          <a:ln w="19050">
            <a:solidFill>
              <a:schemeClr val="bg1"/>
            </a:solidFill>
          </a:ln>
          <a:noFill/>
          <a:latin typeface="Mylius Modern" panose="020B0504020202020204" pitchFamily="34" charset="0"/>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chemeClr val="bg1"/>
          </a:solidFill>
          <a:latin typeface="Mylius Modern" panose="020B05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bg1"/>
          </a:solidFill>
          <a:latin typeface="Mylius Modern" panose="020B05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chemeClr val="bg1"/>
          </a:solidFill>
          <a:latin typeface="Mylius Modern" panose="020B05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bg1"/>
          </a:solidFill>
          <a:latin typeface="Mylius Modern" panose="020B05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bg1"/>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CAE110-9424-BA48-83B0-E7C192BA04BD}"/>
              </a:ext>
            </a:extLst>
          </p:cNvPr>
          <p:cNvSpPr/>
          <p:nvPr userDrawn="1"/>
        </p:nvSpPr>
        <p:spPr>
          <a:xfrm>
            <a:off x="0" y="0"/>
            <a:ext cx="12192000" cy="1045029"/>
          </a:xfrm>
          <a:prstGeom prst="rect">
            <a:avLst/>
          </a:prstGeom>
          <a:solidFill>
            <a:srgbClr val="ADD1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FA82D79-3D00-3A42-BD93-6B3D72B8C049}"/>
              </a:ext>
            </a:extLst>
          </p:cNvPr>
          <p:cNvSpPr txBox="1"/>
          <p:nvPr userDrawn="1"/>
        </p:nvSpPr>
        <p:spPr>
          <a:xfrm>
            <a:off x="256583" y="6591386"/>
            <a:ext cx="4550546" cy="184666"/>
          </a:xfrm>
          <a:prstGeom prst="rect">
            <a:avLst/>
          </a:prstGeom>
          <a:noFill/>
        </p:spPr>
        <p:txBody>
          <a:bodyPr wrap="square" rtlCol="0">
            <a:spAutoFit/>
          </a:bodyPr>
          <a:lstStyle/>
          <a:p>
            <a:r>
              <a:rPr lang="en-US" sz="600" b="0" i="0" spc="0" dirty="0">
                <a:solidFill>
                  <a:srgbClr val="BEB3B2"/>
                </a:solidFill>
                <a:latin typeface="Mylius Modern" panose="020B0504020202020204" pitchFamily="34" charset="0"/>
              </a:rPr>
              <a:t>FOR PURPOSES OF FORAGE VIRTUAL WORK EXPERIENCE PROGRAM</a:t>
            </a:r>
          </a:p>
        </p:txBody>
      </p:sp>
      <p:sp>
        <p:nvSpPr>
          <p:cNvPr id="13" name="Slide Number Placeholder 5">
            <a:extLst>
              <a:ext uri="{FF2B5EF4-FFF2-40B4-BE49-F238E27FC236}">
                <a16:creationId xmlns:a16="http://schemas.microsoft.com/office/drawing/2014/main" id="{EB54ABC8-9A94-4548-9736-C4C7B4C0BAE2}"/>
              </a:ext>
            </a:extLst>
          </p:cNvPr>
          <p:cNvSpPr txBox="1">
            <a:spLocks/>
          </p:cNvSpPr>
          <p:nvPr userDrawn="1"/>
        </p:nvSpPr>
        <p:spPr>
          <a:xfrm>
            <a:off x="11251474" y="6583692"/>
            <a:ext cx="710068" cy="18466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1BACC82-5A65-4E43-B4FE-801ED5E2C88E}" type="slidenum">
              <a:rPr lang="en-GB" sz="700" b="0" i="0" smtClean="0">
                <a:solidFill>
                  <a:srgbClr val="BEB3B2"/>
                </a:solidFill>
                <a:latin typeface="Mylius Modern" panose="020B0504020202020204" pitchFamily="34" charset="0"/>
              </a:rPr>
              <a:pPr algn="r"/>
              <a:t>‹#›</a:t>
            </a:fld>
            <a:endParaRPr lang="en-GB" sz="1000" b="0" i="0">
              <a:solidFill>
                <a:srgbClr val="BEB3B2"/>
              </a:solidFill>
              <a:latin typeface="Mylius Modern" panose="020B0504020202020204" pitchFamily="34" charset="0"/>
            </a:endParaRPr>
          </a:p>
        </p:txBody>
      </p:sp>
      <p:sp>
        <p:nvSpPr>
          <p:cNvPr id="6" name="Title Placeholder 1">
            <a:extLst>
              <a:ext uri="{FF2B5EF4-FFF2-40B4-BE49-F238E27FC236}">
                <a16:creationId xmlns:a16="http://schemas.microsoft.com/office/drawing/2014/main" id="{58A772E0-A577-FA4A-8DD2-882CD356302E}"/>
              </a:ext>
            </a:extLst>
          </p:cNvPr>
          <p:cNvSpPr>
            <a:spLocks noGrp="1"/>
          </p:cNvSpPr>
          <p:nvPr>
            <p:ph type="title"/>
          </p:nvPr>
        </p:nvSpPr>
        <p:spPr>
          <a:xfrm>
            <a:off x="343672" y="323488"/>
            <a:ext cx="8797438" cy="442867"/>
          </a:xfrm>
          <a:prstGeom prst="rect">
            <a:avLst/>
          </a:prstGeom>
        </p:spPr>
        <p:txBody>
          <a:bodyPr vert="horz" wrap="square" lIns="0" tIns="0" rIns="0" bIns="0" rtlCol="0" anchor="ctr" anchorCtr="0">
            <a:noAutofit/>
          </a:bodyPr>
          <a:lstStyle/>
          <a:p>
            <a:r>
              <a:rPr lang="en-GB"/>
              <a:t>CLICK TO EDIT MASTER TITLE STYLE</a:t>
            </a:r>
          </a:p>
        </p:txBody>
      </p:sp>
      <p:pic>
        <p:nvPicPr>
          <p:cNvPr id="8" name="Picture 7" descr="Shape, rectangle&#10;&#10;Description automatically generated">
            <a:extLst>
              <a:ext uri="{FF2B5EF4-FFF2-40B4-BE49-F238E27FC236}">
                <a16:creationId xmlns:a16="http://schemas.microsoft.com/office/drawing/2014/main" id="{282FE7E8-8ACE-C049-AD78-27A9B8AC9B86}"/>
              </a:ext>
            </a:extLst>
          </p:cNvPr>
          <p:cNvPicPr>
            <a:picLocks noChangeAspect="1"/>
          </p:cNvPicPr>
          <p:nvPr userDrawn="1"/>
        </p:nvPicPr>
        <p:blipFill>
          <a:blip r:embed="rId3"/>
          <a:stretch>
            <a:fillRect/>
          </a:stretch>
        </p:blipFill>
        <p:spPr>
          <a:xfrm>
            <a:off x="10810753" y="368300"/>
            <a:ext cx="1046285" cy="260270"/>
          </a:xfrm>
          <a:prstGeom prst="rect">
            <a:avLst/>
          </a:prstGeom>
        </p:spPr>
      </p:pic>
      <p:sp>
        <p:nvSpPr>
          <p:cNvPr id="9" name="Date Placeholder 3">
            <a:extLst>
              <a:ext uri="{FF2B5EF4-FFF2-40B4-BE49-F238E27FC236}">
                <a16:creationId xmlns:a16="http://schemas.microsoft.com/office/drawing/2014/main" id="{C33239F7-E119-B84B-937E-C500AF04A255}"/>
              </a:ext>
            </a:extLst>
          </p:cNvPr>
          <p:cNvSpPr>
            <a:spLocks noGrp="1"/>
          </p:cNvSpPr>
          <p:nvPr>
            <p:ph type="dt" sz="half" idx="2"/>
          </p:nvPr>
        </p:nvSpPr>
        <p:spPr>
          <a:xfrm>
            <a:off x="8592159" y="6622164"/>
            <a:ext cx="2741736" cy="107722"/>
          </a:xfrm>
          <a:prstGeom prst="rect">
            <a:avLst/>
          </a:prstGeom>
        </p:spPr>
        <p:txBody>
          <a:bodyPr vert="horz" wrap="square" lIns="0" tIns="0" rIns="0" bIns="0" rtlCol="0" anchor="ctr">
            <a:spAutoFit/>
          </a:bodyPr>
          <a:lstStyle>
            <a:lvl1pPr algn="r">
              <a:defRPr lang="en-GB" sz="700" b="0" i="0" cap="all" spc="110" baseline="0" smtClean="0">
                <a:solidFill>
                  <a:srgbClr val="BEB3B2"/>
                </a:solidFill>
                <a:latin typeface="Mylius Modern" panose="020B0504020202020204" pitchFamily="34" charset="0"/>
              </a:defRPr>
            </a:lvl1pPr>
          </a:lstStyle>
          <a:p>
            <a:fld id="{0CBD1D9E-D27F-4554-BE6E-550908FE1FBE}" type="datetime1">
              <a:rPr lang="en-GB" smtClean="0"/>
              <a:pPr/>
              <a:t>10/12/2023</a:t>
            </a:fld>
            <a:endParaRPr lang="en-GB"/>
          </a:p>
        </p:txBody>
      </p:sp>
    </p:spTree>
    <p:extLst>
      <p:ext uri="{BB962C8B-B14F-4D97-AF65-F5344CB8AC3E}">
        <p14:creationId xmlns:p14="http://schemas.microsoft.com/office/powerpoint/2010/main" val="252218035"/>
      </p:ext>
    </p:extLst>
  </p:cSld>
  <p:clrMap bg1="lt1" tx1="dk1" bg2="lt2" tx2="dk2" accent1="accent1" accent2="accent2" accent3="accent3" accent4="accent4" accent5="accent5" accent6="accent6" hlink="hlink" folHlink="folHlink"/>
  <p:sldLayoutIdLst>
    <p:sldLayoutId id="2147483749" r:id="rId1"/>
  </p:sldLayoutIdLst>
  <p:txStyles>
    <p:titleStyle>
      <a:lvl1pPr algn="l" defTabSz="914400" rtl="0" eaLnBrk="1" latinLnBrk="0" hangingPunct="1">
        <a:lnSpc>
          <a:spcPct val="90000"/>
        </a:lnSpc>
        <a:spcBef>
          <a:spcPct val="0"/>
        </a:spcBef>
        <a:buNone/>
        <a:defRPr sz="2800" b="0" i="0" kern="1200" cap="all" spc="600" baseline="0">
          <a:solidFill>
            <a:schemeClr val="bg1"/>
          </a:solidFill>
          <a:latin typeface="Mylius Modern" panose="020B0504020202020204" pitchFamily="34" charset="0"/>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000" b="0" i="0" kern="1200">
          <a:solidFill>
            <a:srgbClr val="0B5574"/>
          </a:solidFill>
          <a:latin typeface="Mylius Modern" panose="020B05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600" b="0" i="0" kern="1200">
          <a:solidFill>
            <a:srgbClr val="0B5574"/>
          </a:solidFill>
          <a:latin typeface="Mylius Modern" panose="020B05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b="0" i="0" kern="1200">
          <a:solidFill>
            <a:srgbClr val="0B5574"/>
          </a:solidFill>
          <a:latin typeface="Mylius Modern" panose="020B05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b="0" i="0" kern="1200">
          <a:solidFill>
            <a:srgbClr val="0B5574"/>
          </a:solidFill>
          <a:latin typeface="Mylius Modern" panose="020B05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p15:clr>
            <a:srgbClr val="F26B43"/>
          </p15:clr>
        </p15:guide>
        <p15:guide id="2" orient="horz" pos="232">
          <p15:clr>
            <a:srgbClr val="F26B43"/>
          </p15:clr>
        </p15:guide>
        <p15:guide id="3" pos="7469">
          <p15:clr>
            <a:srgbClr val="F26B43"/>
          </p15:clr>
        </p15:guide>
        <p15:guide id="4" orient="horz" pos="40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8A003-EF0F-7525-8F4C-02C1EBAC53E6}"/>
              </a:ext>
            </a:extLst>
          </p:cNvPr>
          <p:cNvSpPr>
            <a:spLocks noGrp="1"/>
          </p:cNvSpPr>
          <p:nvPr>
            <p:ph type="ctrTitle"/>
          </p:nvPr>
        </p:nvSpPr>
        <p:spPr>
          <a:xfrm>
            <a:off x="2781300" y="2000625"/>
            <a:ext cx="6629400" cy="2387600"/>
          </a:xfrm>
        </p:spPr>
        <p:txBody>
          <a:bodyPr/>
          <a:lstStyle/>
          <a:p>
            <a:r>
              <a:rPr lang="en-GB" dirty="0"/>
              <a:t>British Airways</a:t>
            </a:r>
          </a:p>
        </p:txBody>
      </p:sp>
      <p:sp>
        <p:nvSpPr>
          <p:cNvPr id="3" name="Subtitle 2">
            <a:extLst>
              <a:ext uri="{FF2B5EF4-FFF2-40B4-BE49-F238E27FC236}">
                <a16:creationId xmlns:a16="http://schemas.microsoft.com/office/drawing/2014/main" id="{A28FAAD5-BEA6-D647-CD8F-9337612F188E}"/>
              </a:ext>
            </a:extLst>
          </p:cNvPr>
          <p:cNvSpPr>
            <a:spLocks noGrp="1"/>
          </p:cNvSpPr>
          <p:nvPr>
            <p:ph type="subTitle" idx="1"/>
          </p:nvPr>
        </p:nvSpPr>
        <p:spPr>
          <a:xfrm>
            <a:off x="1485672" y="3649364"/>
            <a:ext cx="9144000" cy="870483"/>
          </a:xfrm>
        </p:spPr>
        <p:txBody>
          <a:bodyPr/>
          <a:lstStyle/>
          <a:p>
            <a:r>
              <a:rPr lang="en-GB" dirty="0"/>
              <a:t>Predictive model and its results</a:t>
            </a:r>
          </a:p>
        </p:txBody>
      </p:sp>
      <p:sp>
        <p:nvSpPr>
          <p:cNvPr id="4" name="Text Placeholder 3">
            <a:extLst>
              <a:ext uri="{FF2B5EF4-FFF2-40B4-BE49-F238E27FC236}">
                <a16:creationId xmlns:a16="http://schemas.microsoft.com/office/drawing/2014/main" id="{35DAAE56-6498-6C34-D5D9-05A0333BD3BC}"/>
              </a:ext>
            </a:extLst>
          </p:cNvPr>
          <p:cNvSpPr>
            <a:spLocks noGrp="1"/>
          </p:cNvSpPr>
          <p:nvPr>
            <p:ph type="body" sz="quarter" idx="10"/>
          </p:nvPr>
        </p:nvSpPr>
        <p:spPr>
          <a:xfrm>
            <a:off x="1524000" y="6230124"/>
            <a:ext cx="9144000" cy="275781"/>
          </a:xfrm>
        </p:spPr>
        <p:txBody>
          <a:bodyPr/>
          <a:lstStyle/>
          <a:p>
            <a:r>
              <a:rPr lang="en-GB" dirty="0" smtClean="0"/>
              <a:t>2023-12-09</a:t>
            </a:r>
            <a:endParaRPr lang="en-GB" dirty="0"/>
          </a:p>
        </p:txBody>
      </p:sp>
      <p:sp>
        <p:nvSpPr>
          <p:cNvPr id="5" name="Subtitle 2">
            <a:extLst>
              <a:ext uri="{FF2B5EF4-FFF2-40B4-BE49-F238E27FC236}">
                <a16:creationId xmlns:a16="http://schemas.microsoft.com/office/drawing/2014/main" id="{A28FAAD5-BEA6-D647-CD8F-9337612F188E}"/>
              </a:ext>
            </a:extLst>
          </p:cNvPr>
          <p:cNvSpPr txBox="1">
            <a:spLocks/>
          </p:cNvSpPr>
          <p:nvPr/>
        </p:nvSpPr>
        <p:spPr>
          <a:xfrm>
            <a:off x="1524000" y="4939744"/>
            <a:ext cx="9144000" cy="870483"/>
          </a:xfrm>
        </p:spPr>
        <p:txBody>
          <a:bodyPr anchor="ctr">
            <a:normAutofit/>
          </a:bodyPr>
          <a:lstStyle>
            <a:lvl1pPr marL="0" indent="0" algn="ctr" defTabSz="914400" rtl="0" eaLnBrk="1" latinLnBrk="0" hangingPunct="1">
              <a:lnSpc>
                <a:spcPct val="150000"/>
              </a:lnSpc>
              <a:spcBef>
                <a:spcPts val="1000"/>
              </a:spcBef>
              <a:buFont typeface="Arial" panose="020B0604020202020204" pitchFamily="34" charset="0"/>
              <a:buNone/>
              <a:defRPr sz="1600" b="0" i="0" kern="1200" cap="all" spc="300" baseline="0">
                <a:solidFill>
                  <a:schemeClr val="tx1"/>
                </a:solidFill>
                <a:latin typeface="Mylius Modern" panose="020B0504020202020204" pitchFamily="34" charset="0"/>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b="0" i="0" kern="1200">
                <a:solidFill>
                  <a:schemeClr val="bg1"/>
                </a:solidFill>
                <a:latin typeface="Mylius Modern" panose="020B0504020202020204" pitchFamily="34" charset="0"/>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b="0" i="0" kern="1200">
                <a:solidFill>
                  <a:schemeClr val="bg1"/>
                </a:solidFill>
                <a:latin typeface="Mylius Modern" panose="020B0504020202020204" pitchFamily="34" charset="0"/>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b="0" i="0" kern="1200">
                <a:solidFill>
                  <a:schemeClr val="bg1"/>
                </a:solidFill>
                <a:latin typeface="Mylius Modern" panose="020B0504020202020204" pitchFamily="34" charset="0"/>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b="0" i="0" kern="1200">
                <a:solidFill>
                  <a:schemeClr val="bg1"/>
                </a:solidFill>
                <a:latin typeface="Mylius Modern"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smtClean="0"/>
              <a:t>BY: Ogbuzuru Kelechi</a:t>
            </a:r>
            <a:endParaRPr lang="en-GB" dirty="0"/>
          </a:p>
        </p:txBody>
      </p:sp>
    </p:spTree>
    <p:extLst>
      <p:ext uri="{BB962C8B-B14F-4D97-AF65-F5344CB8AC3E}">
        <p14:creationId xmlns:p14="http://schemas.microsoft.com/office/powerpoint/2010/main" val="130638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9EE2-AB7B-7C0C-1FC8-20E35CF4B6CB}"/>
              </a:ext>
            </a:extLst>
          </p:cNvPr>
          <p:cNvSpPr>
            <a:spLocks noGrp="1"/>
          </p:cNvSpPr>
          <p:nvPr>
            <p:ph type="title"/>
          </p:nvPr>
        </p:nvSpPr>
        <p:spPr/>
        <p:txBody>
          <a:bodyPr/>
          <a:lstStyle/>
          <a:p>
            <a:r>
              <a:rPr lang="en-GB" dirty="0"/>
              <a:t>Predictive modelling results</a:t>
            </a:r>
          </a:p>
        </p:txBody>
      </p:sp>
      <p:sp>
        <p:nvSpPr>
          <p:cNvPr id="4" name="Rectangle: Rounded Corners 3">
            <a:extLst>
              <a:ext uri="{FF2B5EF4-FFF2-40B4-BE49-F238E27FC236}">
                <a16:creationId xmlns:a16="http://schemas.microsoft.com/office/drawing/2014/main" id="{94F5EF8C-C23B-4148-27C7-A0A1758B0E3D}"/>
              </a:ext>
            </a:extLst>
          </p:cNvPr>
          <p:cNvSpPr/>
          <p:nvPr/>
        </p:nvSpPr>
        <p:spPr>
          <a:xfrm>
            <a:off x="800358" y="1217006"/>
            <a:ext cx="1464859" cy="77921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solidFill>
                  <a:schemeClr val="bg1"/>
                </a:solidFill>
              </a:rPr>
              <a:t>Recall Rate</a:t>
            </a:r>
          </a:p>
          <a:p>
            <a:pPr algn="ctr"/>
            <a:r>
              <a:rPr lang="en-CA" sz="2400" b="1" dirty="0" smtClean="0">
                <a:solidFill>
                  <a:schemeClr val="bg1"/>
                </a:solidFill>
              </a:rPr>
              <a:t>64%</a:t>
            </a:r>
            <a:endParaRPr lang="en-CA" sz="2400" b="1" dirty="0">
              <a:solidFill>
                <a:schemeClr val="bg1"/>
              </a:solidFill>
            </a:endParaRPr>
          </a:p>
        </p:txBody>
      </p:sp>
      <p:sp>
        <p:nvSpPr>
          <p:cNvPr id="9" name="Rectangle: Rounded Corners 8">
            <a:extLst>
              <a:ext uri="{FF2B5EF4-FFF2-40B4-BE49-F238E27FC236}">
                <a16:creationId xmlns:a16="http://schemas.microsoft.com/office/drawing/2014/main" id="{53BDEF4E-66C3-0257-A0A8-E8E887E16047}"/>
              </a:ext>
            </a:extLst>
          </p:cNvPr>
          <p:cNvSpPr/>
          <p:nvPr/>
        </p:nvSpPr>
        <p:spPr>
          <a:xfrm>
            <a:off x="5206544" y="1218426"/>
            <a:ext cx="1440992" cy="77779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solidFill>
                  <a:schemeClr val="bg1"/>
                </a:solidFill>
              </a:rPr>
              <a:t>Precision</a:t>
            </a:r>
          </a:p>
          <a:p>
            <a:pPr algn="ctr"/>
            <a:r>
              <a:rPr lang="en-CA" sz="2400" b="1" dirty="0" smtClean="0">
                <a:solidFill>
                  <a:schemeClr val="bg1"/>
                </a:solidFill>
              </a:rPr>
              <a:t>62%</a:t>
            </a:r>
            <a:endParaRPr lang="en-CA" sz="2400" b="1" dirty="0">
              <a:solidFill>
                <a:schemeClr val="bg1"/>
              </a:solidFill>
            </a:endParaRPr>
          </a:p>
        </p:txBody>
      </p:sp>
      <p:sp>
        <p:nvSpPr>
          <p:cNvPr id="14" name="Content Placeholder 2">
            <a:extLst>
              <a:ext uri="{FF2B5EF4-FFF2-40B4-BE49-F238E27FC236}">
                <a16:creationId xmlns:a16="http://schemas.microsoft.com/office/drawing/2014/main" id="{8B408CB1-6ACD-7DE2-9487-72CE66007713}"/>
              </a:ext>
            </a:extLst>
          </p:cNvPr>
          <p:cNvSpPr txBox="1">
            <a:spLocks/>
          </p:cNvSpPr>
          <p:nvPr/>
        </p:nvSpPr>
        <p:spPr>
          <a:xfrm>
            <a:off x="343672" y="2030734"/>
            <a:ext cx="2265490" cy="76002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dirty="0"/>
              <a:t>Chance of predicting true successful bookings. </a:t>
            </a:r>
          </a:p>
        </p:txBody>
      </p:sp>
      <p:sp>
        <p:nvSpPr>
          <p:cNvPr id="15" name="Content Placeholder 2">
            <a:extLst>
              <a:ext uri="{FF2B5EF4-FFF2-40B4-BE49-F238E27FC236}">
                <a16:creationId xmlns:a16="http://schemas.microsoft.com/office/drawing/2014/main" id="{C2E71D0C-B398-3F3F-1E7F-11DEDD8381F2}"/>
              </a:ext>
            </a:extLst>
          </p:cNvPr>
          <p:cNvSpPr txBox="1">
            <a:spLocks/>
          </p:cNvSpPr>
          <p:nvPr/>
        </p:nvSpPr>
        <p:spPr>
          <a:xfrm>
            <a:off x="4610637" y="2131057"/>
            <a:ext cx="3206839" cy="724086"/>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dirty="0"/>
              <a:t>Will be predicted as actually completed bookings out of all successfully completed bookings. </a:t>
            </a:r>
          </a:p>
        </p:txBody>
      </p:sp>
      <p:sp>
        <p:nvSpPr>
          <p:cNvPr id="23" name="Rectangle: Rounded Corners 22">
            <a:extLst>
              <a:ext uri="{FF2B5EF4-FFF2-40B4-BE49-F238E27FC236}">
                <a16:creationId xmlns:a16="http://schemas.microsoft.com/office/drawing/2014/main" id="{668DCA6A-69B0-0F34-F512-8A610FB04802}"/>
              </a:ext>
            </a:extLst>
          </p:cNvPr>
          <p:cNvSpPr/>
          <p:nvPr/>
        </p:nvSpPr>
        <p:spPr>
          <a:xfrm>
            <a:off x="9588863" y="1217006"/>
            <a:ext cx="1383938" cy="77921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a:solidFill>
                  <a:schemeClr val="bg1"/>
                </a:solidFill>
              </a:rPr>
              <a:t>Accuracy</a:t>
            </a:r>
          </a:p>
          <a:p>
            <a:pPr algn="ctr"/>
            <a:r>
              <a:rPr lang="en-CA" sz="2400" b="1" dirty="0">
                <a:solidFill>
                  <a:schemeClr val="bg1"/>
                </a:solidFill>
              </a:rPr>
              <a:t>62%</a:t>
            </a:r>
          </a:p>
        </p:txBody>
      </p:sp>
      <p:sp>
        <p:nvSpPr>
          <p:cNvPr id="25" name="Content Placeholder 2">
            <a:extLst>
              <a:ext uri="{FF2B5EF4-FFF2-40B4-BE49-F238E27FC236}">
                <a16:creationId xmlns:a16="http://schemas.microsoft.com/office/drawing/2014/main" id="{2153A06D-22D8-EDE9-C6E7-74EFF4E67738}"/>
              </a:ext>
            </a:extLst>
          </p:cNvPr>
          <p:cNvSpPr txBox="1">
            <a:spLocks/>
          </p:cNvSpPr>
          <p:nvPr/>
        </p:nvSpPr>
        <p:spPr>
          <a:xfrm>
            <a:off x="343672" y="2410746"/>
            <a:ext cx="2551168" cy="76002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dirty="0"/>
              <a:t>66% Chance of predicting true incomplete bookings correctly. </a:t>
            </a:r>
          </a:p>
        </p:txBody>
      </p:sp>
      <p:pic>
        <p:nvPicPr>
          <p:cNvPr id="27" name="Picture 26">
            <a:extLst>
              <a:ext uri="{FF2B5EF4-FFF2-40B4-BE49-F238E27FC236}">
                <a16:creationId xmlns:a16="http://schemas.microsoft.com/office/drawing/2014/main" id="{28AF3607-5A12-FA64-3D28-786DE745E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2901" y="2730331"/>
            <a:ext cx="8250246" cy="3515923"/>
          </a:xfrm>
          <a:prstGeom prst="rect">
            <a:avLst/>
          </a:prstGeom>
        </p:spPr>
      </p:pic>
      <p:sp>
        <p:nvSpPr>
          <p:cNvPr id="30" name="Content Placeholder 2">
            <a:extLst>
              <a:ext uri="{FF2B5EF4-FFF2-40B4-BE49-F238E27FC236}">
                <a16:creationId xmlns:a16="http://schemas.microsoft.com/office/drawing/2014/main" id="{C997A710-EA11-EE5D-48FA-BBC81D7F36E7}"/>
              </a:ext>
            </a:extLst>
          </p:cNvPr>
          <p:cNvSpPr txBox="1">
            <a:spLocks/>
          </p:cNvSpPr>
          <p:nvPr/>
        </p:nvSpPr>
        <p:spPr>
          <a:xfrm>
            <a:off x="8898516" y="2062219"/>
            <a:ext cx="2764631" cy="792924"/>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dirty="0"/>
              <a:t>Accuracy of the model predicting successful or incomplete booking is</a:t>
            </a:r>
          </a:p>
        </p:txBody>
      </p:sp>
      <p:sp>
        <p:nvSpPr>
          <p:cNvPr id="31" name="Content Placeholder 2">
            <a:extLst>
              <a:ext uri="{FF2B5EF4-FFF2-40B4-BE49-F238E27FC236}">
                <a16:creationId xmlns:a16="http://schemas.microsoft.com/office/drawing/2014/main" id="{EDE0BBC9-CCC6-32C3-4C35-8F85E454182F}"/>
              </a:ext>
            </a:extLst>
          </p:cNvPr>
          <p:cNvSpPr txBox="1">
            <a:spLocks/>
          </p:cNvSpPr>
          <p:nvPr/>
        </p:nvSpPr>
        <p:spPr>
          <a:xfrm>
            <a:off x="5206544" y="6357811"/>
            <a:ext cx="6343423" cy="353400"/>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dirty="0"/>
              <a:t>Top features that can drive successful flight bookings.</a:t>
            </a:r>
          </a:p>
        </p:txBody>
      </p:sp>
      <p:sp>
        <p:nvSpPr>
          <p:cNvPr id="32" name="Content Placeholder 2">
            <a:extLst>
              <a:ext uri="{FF2B5EF4-FFF2-40B4-BE49-F238E27FC236}">
                <a16:creationId xmlns:a16="http://schemas.microsoft.com/office/drawing/2014/main" id="{15C92B7C-B314-5505-916F-59A6337A6677}"/>
              </a:ext>
            </a:extLst>
          </p:cNvPr>
          <p:cNvSpPr txBox="1">
            <a:spLocks/>
          </p:cNvSpPr>
          <p:nvPr/>
        </p:nvSpPr>
        <p:spPr>
          <a:xfrm>
            <a:off x="169782" y="3722970"/>
            <a:ext cx="2765932" cy="2811541"/>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Our focus lies in improving the accuracy of predicting successful bookings. While balancing the dataset enhances overall accuracy, it does not ensure precise predictions of successful bookings. The dataset was adjusted to include 8,000 instances labeled as incomplete bookings and 7,000 as complete bookings.</a:t>
            </a:r>
            <a:endParaRPr lang="en-GB" sz="1200" dirty="0"/>
          </a:p>
        </p:txBody>
      </p:sp>
    </p:spTree>
    <p:extLst>
      <p:ext uri="{BB962C8B-B14F-4D97-AF65-F5344CB8AC3E}">
        <p14:creationId xmlns:p14="http://schemas.microsoft.com/office/powerpoint/2010/main" val="2539196362"/>
      </p:ext>
    </p:extLst>
  </p:cSld>
  <p:clrMapOvr>
    <a:masterClrMapping/>
  </p:clrMapOvr>
</p:sld>
</file>

<file path=ppt/theme/theme1.xml><?xml version="1.0" encoding="utf-8"?>
<a:theme xmlns:a="http://schemas.openxmlformats.org/drawingml/2006/main" name="Section Heading">
  <a:themeElements>
    <a:clrScheme name="British Originals Theme">
      <a:dk1>
        <a:srgbClr val="000000"/>
      </a:dk1>
      <a:lt1>
        <a:srgbClr val="FFFFFF"/>
      </a:lt1>
      <a:dk2>
        <a:srgbClr val="44546A"/>
      </a:dk2>
      <a:lt2>
        <a:srgbClr val="E7E6E6"/>
      </a:lt2>
      <a:accent1>
        <a:srgbClr val="0B5574"/>
      </a:accent1>
      <a:accent2>
        <a:srgbClr val="BCCFEC"/>
      </a:accent2>
      <a:accent3>
        <a:srgbClr val="E37874"/>
      </a:accent3>
      <a:accent4>
        <a:srgbClr val="ADD1D7"/>
      </a:accent4>
      <a:accent5>
        <a:srgbClr val="BEB3B2"/>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 Better BA TD&amp;I internal ppt template" id="{D89623FF-54E7-4C51-A973-6231368CD68D}" vid="{3C29D505-96C1-4D86-8FE8-F692CDCBF9EA}"/>
    </a:ext>
  </a:extLst>
</a:theme>
</file>

<file path=ppt/theme/theme2.xml><?xml version="1.0" encoding="utf-8"?>
<a:theme xmlns:a="http://schemas.openxmlformats.org/drawingml/2006/main" name="Slide Body - Curious Blue (ABBA)">
  <a:themeElements>
    <a:clrScheme name="A BETTER BA">
      <a:dk1>
        <a:srgbClr val="0B5574"/>
      </a:dk1>
      <a:lt1>
        <a:srgbClr val="F6F6F6"/>
      </a:lt1>
      <a:dk2>
        <a:srgbClr val="BEB3B2"/>
      </a:dk2>
      <a:lt2>
        <a:srgbClr val="FFFFFF"/>
      </a:lt2>
      <a:accent1>
        <a:srgbClr val="ADD1D7"/>
      </a:accent1>
      <a:accent2>
        <a:srgbClr val="BCCFEC"/>
      </a:accent2>
      <a:accent3>
        <a:srgbClr val="E37874"/>
      </a:accent3>
      <a:accent4>
        <a:srgbClr val="ADD1D7"/>
      </a:accent4>
      <a:accent5>
        <a:srgbClr val="BEB3B2"/>
      </a:accent5>
      <a:accent6>
        <a:srgbClr val="A3D2D8"/>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 Better BA TD&amp;I internal ppt template" id="{D89623FF-54E7-4C51-A973-6231368CD68D}" vid="{97BF301D-186A-4A22-8E4C-E1F994A4840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2594255C9F47049B367F00913BED969" ma:contentTypeVersion="8" ma:contentTypeDescription="Create a new document." ma:contentTypeScope="" ma:versionID="669976127e9d99054ee2095d187ec24b">
  <xsd:schema xmlns:xsd="http://www.w3.org/2001/XMLSchema" xmlns:xs="http://www.w3.org/2001/XMLSchema" xmlns:p="http://schemas.microsoft.com/office/2006/metadata/properties" xmlns:ns2="86177072-acf3-469b-be5f-1201de6410bb" xmlns:ns3="81b85e46-be1c-4d4d-af3f-3ff4749bae08" targetNamespace="http://schemas.microsoft.com/office/2006/metadata/properties" ma:root="true" ma:fieldsID="480bda1865dbc1f7ead824dac06b125f" ns2:_="" ns3:_="">
    <xsd:import namespace="86177072-acf3-469b-be5f-1201de6410bb"/>
    <xsd:import namespace="81b85e46-be1c-4d4d-af3f-3ff4749bae0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177072-acf3-469b-be5f-1201de6410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b85e46-be1c-4d4d-af3f-3ff4749bae0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81b85e46-be1c-4d4d-af3f-3ff4749bae08">
      <UserInfo>
        <DisplayName>Sarah Barr Miller</DisplayName>
        <AccountId>10</AccountId>
        <AccountType/>
      </UserInfo>
      <UserInfo>
        <DisplayName>Sandra Green</DisplayName>
        <AccountId>41</AccountId>
        <AccountType/>
      </UserInfo>
      <UserInfo>
        <DisplayName>Hazel Chesters</DisplayName>
        <AccountId>42</AccountId>
        <AccountType/>
      </UserInfo>
    </SharedWithUsers>
  </documentManagement>
</p:properties>
</file>

<file path=customXml/itemProps1.xml><?xml version="1.0" encoding="utf-8"?>
<ds:datastoreItem xmlns:ds="http://schemas.openxmlformats.org/officeDocument/2006/customXml" ds:itemID="{473D82A4-28C2-4B97-A470-A3247BBF4BEB}">
  <ds:schemaRefs>
    <ds:schemaRef ds:uri="http://schemas.microsoft.com/sharepoint/v3/contenttype/forms"/>
  </ds:schemaRefs>
</ds:datastoreItem>
</file>

<file path=customXml/itemProps2.xml><?xml version="1.0" encoding="utf-8"?>
<ds:datastoreItem xmlns:ds="http://schemas.openxmlformats.org/officeDocument/2006/customXml" ds:itemID="{751A6194-F0BD-4282-83C9-95DFBAD1B667}">
  <ds:schemaRefs>
    <ds:schemaRef ds:uri="81b85e46-be1c-4d4d-af3f-3ff4749bae08"/>
    <ds:schemaRef ds:uri="86177072-acf3-469b-be5f-1201de6410b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A0A2C6C-ACEB-4D76-A29E-B1C9FEC52B8B}">
  <ds:schemaRefs>
    <ds:schemaRef ds:uri="http://schemas.microsoft.com/office/2006/documentManagement/types"/>
    <ds:schemaRef ds:uri="http://purl.org/dc/terms/"/>
    <ds:schemaRef ds:uri="http://purl.org/dc/elements/1.1/"/>
    <ds:schemaRef ds:uri="86177072-acf3-469b-be5f-1201de6410bb"/>
    <ds:schemaRef ds:uri="http://www.w3.org/XML/1998/namespace"/>
    <ds:schemaRef ds:uri="http://schemas.microsoft.com/office/infopath/2007/PartnerControls"/>
    <ds:schemaRef ds:uri="http://schemas.openxmlformats.org/package/2006/metadata/core-properties"/>
    <ds:schemaRef ds:uri="81b85e46-be1c-4d4d-af3f-3ff4749bae08"/>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1800</TotalTime>
  <Words>123</Words>
  <Application>Microsoft Office PowerPoint</Application>
  <PresentationFormat>Widescreen</PresentationFormat>
  <Paragraphs>17</Paragraphs>
  <Slides>2</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vt:i4>
      </vt:variant>
    </vt:vector>
  </HeadingPairs>
  <TitlesOfParts>
    <vt:vector size="7" baseType="lpstr">
      <vt:lpstr>Arial</vt:lpstr>
      <vt:lpstr>Calibri</vt:lpstr>
      <vt:lpstr>Mylius Modern</vt:lpstr>
      <vt:lpstr>Section Heading</vt:lpstr>
      <vt:lpstr>Slide Body - Curious Blue (ABBA)</vt:lpstr>
      <vt:lpstr>British Airways</vt:lpstr>
      <vt:lpstr>Predictive modelling results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GDP Data Access Controls</dc:title>
  <dc:subject/>
  <dc:creator>Jake Pearce</dc:creator>
  <cp:keywords/>
  <dc:description/>
  <cp:lastModifiedBy>Jasper</cp:lastModifiedBy>
  <cp:revision>31</cp:revision>
  <cp:lastPrinted>2022-06-09T07:44:13Z</cp:lastPrinted>
  <dcterms:created xsi:type="dcterms:W3CDTF">2022-02-22T07:39:05Z</dcterms:created>
  <dcterms:modified xsi:type="dcterms:W3CDTF">2023-12-10T00:23:47Z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0x01010082594255C9F47049B367F00913BED969</vt:lpwstr>
  </property>
</Properties>
</file>